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28016"/>
            <a:ext cx="41148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100" b="1">
                <a:solidFill>
                  <a:srgbClr val="1677B8"/>
                </a:solidFill>
                <a:latin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0584"/>
            <a:ext cx="7863840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2000" b="1">
                <a:solidFill>
                  <a:srgbClr val="163B5D"/>
                </a:solidFill>
                <a:latin typeface="Microsoft YaHei"/>
              </a:rPr>
              <a:t>技术架构：本体驱动的数据流与智能营销能力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438912"/>
            <a:ext cx="7772400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800" b="0">
                <a:solidFill>
                  <a:srgbClr val="698092"/>
                </a:solidFill>
                <a:latin typeface="Microsoft YaHei"/>
              </a:rPr>
              <a:t>数据经处理智能体进入知识与本体底座，由六个智能域共享调用，结果再回写形成闭环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740664"/>
            <a:ext cx="8375904" cy="0"/>
          </a:xfrm>
          <a:prstGeom prst="line">
            <a:avLst/>
          </a:prstGeom>
          <a:ln w="10160">
            <a:solidFill>
              <a:srgbClr val="B2C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832104"/>
            <a:ext cx="1828800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800" b="1">
                <a:solidFill>
                  <a:srgbClr val="1677B8"/>
                </a:solidFill>
                <a:latin typeface="Microsoft YaHei"/>
              </a:rPr>
              <a:t>数据接入层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950976"/>
            <a:ext cx="1444752" cy="475488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B2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005840"/>
            <a:ext cx="1371600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163B5D"/>
                </a:solidFill>
                <a:latin typeface="Microsoft YaHei"/>
              </a:rPr>
              <a:t>用户画像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188720"/>
            <a:ext cx="1371600" cy="12801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40" b="0">
                <a:solidFill>
                  <a:srgbClr val="698092"/>
                </a:solidFill>
                <a:latin typeface="Microsoft YaHei"/>
              </a:rPr>
              <a:t>客户画像、标签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97864" y="1426464"/>
            <a:ext cx="0" cy="128016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1143000" y="1517904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30552" y="950976"/>
            <a:ext cx="1444752" cy="475488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B2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67128" y="1005840"/>
            <a:ext cx="1371600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163B5D"/>
                </a:solidFill>
                <a:latin typeface="Microsoft YaHei"/>
              </a:rPr>
              <a:t>航班与经营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128" y="1188720"/>
            <a:ext cx="1371600" cy="12801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40" b="0">
                <a:solidFill>
                  <a:srgbClr val="698092"/>
                </a:solidFill>
                <a:latin typeface="Microsoft YaHei"/>
              </a:rPr>
              <a:t>航线、客座率、库存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52928" y="1426464"/>
            <a:ext cx="0" cy="128016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2798064" y="1517904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85616" y="950976"/>
            <a:ext cx="1444752" cy="475488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B2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22192" y="1005840"/>
            <a:ext cx="1371600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163B5D"/>
                </a:solidFill>
                <a:latin typeface="Microsoft YaHei"/>
              </a:rPr>
              <a:t>产品管理平台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2192" y="1188720"/>
            <a:ext cx="1371600" cy="12801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40" b="0">
                <a:solidFill>
                  <a:srgbClr val="698092"/>
                </a:solidFill>
                <a:latin typeface="Microsoft YaHei"/>
              </a:rPr>
              <a:t>机票、卡券、辅营、权益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07992" y="1426464"/>
            <a:ext cx="0" cy="128016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0800000">
            <a:off x="4453128" y="1517904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40679" y="950976"/>
            <a:ext cx="1444752" cy="475488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B2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77255" y="1005840"/>
            <a:ext cx="1371600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163B5D"/>
                </a:solidFill>
                <a:latin typeface="Microsoft YaHei"/>
              </a:rPr>
              <a:t>市场与热点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7255" y="1188720"/>
            <a:ext cx="1371600" cy="12801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40" b="0">
                <a:solidFill>
                  <a:srgbClr val="698092"/>
                </a:solidFill>
                <a:latin typeface="Microsoft YaHei"/>
              </a:rPr>
              <a:t>热点、节假日、目的地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63055" y="1426464"/>
            <a:ext cx="0" cy="128016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10800000">
            <a:off x="6108192" y="1517904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95744" y="950976"/>
            <a:ext cx="1444752" cy="475488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B2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1005840"/>
            <a:ext cx="1371600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163B5D"/>
                </a:solidFill>
                <a:latin typeface="Microsoft YaHei"/>
              </a:rPr>
              <a:t>营销结果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1188720"/>
            <a:ext cx="1371600" cy="12801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40" b="0">
                <a:solidFill>
                  <a:srgbClr val="698092"/>
                </a:solidFill>
                <a:latin typeface="Microsoft YaHei"/>
              </a:rPr>
              <a:t>触达、点击、出票、收入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18120" y="1426464"/>
            <a:ext cx="0" cy="128016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0800000">
            <a:off x="7763256" y="1517904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1609344"/>
            <a:ext cx="1828800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800" b="1">
                <a:solidFill>
                  <a:srgbClr val="1677B8"/>
                </a:solidFill>
                <a:latin typeface="Microsoft YaHei"/>
              </a:rPr>
              <a:t>数据处理与治理层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" y="1709928"/>
            <a:ext cx="2057400" cy="621792"/>
          </a:xfrm>
          <a:prstGeom prst="roundRect">
            <a:avLst/>
          </a:prstGeom>
          <a:solidFill>
            <a:srgbClr val="EAF4FB"/>
          </a:solidFill>
          <a:ln w="1651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0936" y="1792224"/>
            <a:ext cx="822960" cy="201168"/>
          </a:xfrm>
          <a:prstGeom prst="roundRect">
            <a:avLst/>
          </a:prstGeom>
          <a:solidFill>
            <a:srgbClr val="1677B8"/>
          </a:solidFill>
          <a:ln w="508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1792224"/>
            <a:ext cx="822960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数据处理智能体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2039112"/>
            <a:ext cx="18745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00" b="1">
                <a:solidFill>
                  <a:srgbClr val="163B5D"/>
                </a:solidFill>
                <a:latin typeface="Microsoft YaHei"/>
              </a:rPr>
              <a:t>清洗 · 抽取 · 分类 · 关系识别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70632" y="1709928"/>
            <a:ext cx="1353312" cy="621792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B2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07208" y="1847088"/>
            <a:ext cx="128016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50" b="1">
                <a:solidFill>
                  <a:srgbClr val="163B5D"/>
                </a:solidFill>
                <a:latin typeface="Microsoft YaHei"/>
              </a:rPr>
              <a:t>数据质量与准入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07208" y="2057400"/>
            <a:ext cx="1280160" cy="12801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40" b="0">
                <a:solidFill>
                  <a:srgbClr val="698092"/>
                </a:solidFill>
                <a:latin typeface="Microsoft YaHei"/>
              </a:rPr>
              <a:t>来源 · 置信度 · 版本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06824" y="1709928"/>
            <a:ext cx="1353312" cy="621792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B2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400" y="1847088"/>
            <a:ext cx="128016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50" b="1">
                <a:solidFill>
                  <a:srgbClr val="163B5D"/>
                </a:solidFill>
                <a:latin typeface="Microsoft YaHei"/>
              </a:rPr>
              <a:t>权限与审计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2057400"/>
            <a:ext cx="1280160" cy="12801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40" b="0">
                <a:solidFill>
                  <a:srgbClr val="698092"/>
                </a:solidFill>
                <a:latin typeface="Microsoft YaHei"/>
              </a:rPr>
              <a:t>脱敏 · 授权 · 溯源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43016" y="1709928"/>
            <a:ext cx="1353312" cy="621792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B2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79592" y="1847088"/>
            <a:ext cx="128016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50" b="1">
                <a:solidFill>
                  <a:srgbClr val="163B5D"/>
                </a:solidFill>
                <a:latin typeface="Microsoft YaHei"/>
              </a:rPr>
              <a:t>人工确认与本体更新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79592" y="2057400"/>
            <a:ext cx="1280160" cy="12801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40" b="0">
                <a:solidFill>
                  <a:srgbClr val="698092"/>
                </a:solidFill>
                <a:latin typeface="Microsoft YaHei"/>
              </a:rPr>
              <a:t>判断是否进入本体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532888" y="2020824"/>
            <a:ext cx="201168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5400000">
            <a:off x="2670048" y="1965960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4123944" y="2020824"/>
            <a:ext cx="201168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5400000">
            <a:off x="4261104" y="1965960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5660136" y="2020824"/>
            <a:ext cx="201168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5797296" y="1965960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1508760" y="2331720"/>
            <a:ext cx="0" cy="164592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10800000">
            <a:off x="1453896" y="2423160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7196328" y="2331720"/>
            <a:ext cx="0" cy="164592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54"/>
          <p:cNvSpPr/>
          <p:nvPr/>
        </p:nvSpPr>
        <p:spPr>
          <a:xfrm rot="10800000">
            <a:off x="7141464" y="2423160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2532888"/>
            <a:ext cx="1828800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800" b="1">
                <a:solidFill>
                  <a:srgbClr val="1677B8"/>
                </a:solidFill>
                <a:latin typeface="Microsoft YaHei"/>
              </a:rPr>
              <a:t>知识与本体底座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75488" y="2624328"/>
            <a:ext cx="8174736" cy="777240"/>
          </a:xfrm>
          <a:prstGeom prst="roundRect">
            <a:avLst/>
          </a:prstGeom>
          <a:solidFill>
            <a:srgbClr val="DCF2FA"/>
          </a:solidFill>
          <a:ln w="2032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8" y="2761488"/>
            <a:ext cx="1371600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163B5D"/>
                </a:solidFill>
                <a:latin typeface="Microsoft YaHei"/>
              </a:rPr>
              <a:t>知识与本体底座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176272" y="2734056"/>
            <a:ext cx="126187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03703" y="2798064"/>
            <a:ext cx="1207007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40" b="1">
                <a:solidFill>
                  <a:srgbClr val="1677B8"/>
                </a:solidFill>
                <a:latin typeface="Microsoft YaHei"/>
              </a:rPr>
              <a:t>知识层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03703" y="2980944"/>
            <a:ext cx="1207007" cy="11887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30" b="0">
                <a:solidFill>
                  <a:srgbClr val="698092"/>
                </a:solidFill>
                <a:latin typeface="Microsoft YaHei"/>
              </a:rPr>
              <a:t>文档 · 规则 · 证据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21024" y="2734056"/>
            <a:ext cx="148132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48456" y="2798064"/>
            <a:ext cx="1426464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40" b="1">
                <a:solidFill>
                  <a:srgbClr val="1677B8"/>
                </a:solidFill>
                <a:latin typeface="Microsoft YaHei"/>
              </a:rPr>
              <a:t>本体对象层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48456" y="2980944"/>
            <a:ext cx="1426464" cy="11887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30" b="0">
                <a:solidFill>
                  <a:srgbClr val="698092"/>
                </a:solidFill>
                <a:latin typeface="Microsoft YaHei"/>
              </a:rPr>
              <a:t>机会 · 画像 · 产品 · 活动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285232" y="2734056"/>
            <a:ext cx="15727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12664" y="2798064"/>
            <a:ext cx="1517904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40" b="1">
                <a:solidFill>
                  <a:srgbClr val="1677B8"/>
                </a:solidFill>
                <a:latin typeface="Microsoft YaHei"/>
              </a:rPr>
              <a:t>关系与规则层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12664" y="2980944"/>
            <a:ext cx="1517904" cy="11887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30" b="0">
                <a:solidFill>
                  <a:srgbClr val="698092"/>
                </a:solidFill>
                <a:latin typeface="Microsoft YaHei"/>
              </a:rPr>
              <a:t>匹配 · 引用 · 审批 · 回写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040880" y="2734056"/>
            <a:ext cx="1371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068312" y="2798064"/>
            <a:ext cx="1316736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40" b="1">
                <a:solidFill>
                  <a:srgbClr val="1677B8"/>
                </a:solidFill>
                <a:latin typeface="Microsoft YaHei"/>
              </a:rPr>
              <a:t>证据与版本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68312" y="2980944"/>
            <a:ext cx="1316736" cy="11887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30" b="0">
                <a:solidFill>
                  <a:srgbClr val="698092"/>
                </a:solidFill>
                <a:latin typeface="Microsoft YaHei"/>
              </a:rPr>
              <a:t>来源 · 时间 · 置信度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2084831" y="3401568"/>
            <a:ext cx="0" cy="219456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/>
          <p:cNvSpPr/>
          <p:nvPr/>
        </p:nvSpPr>
        <p:spPr>
          <a:xfrm rot="10800000">
            <a:off x="2029967" y="3547872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4379976" y="3401568"/>
            <a:ext cx="0" cy="219456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Isosceles Triangle 73"/>
          <p:cNvSpPr/>
          <p:nvPr/>
        </p:nvSpPr>
        <p:spPr>
          <a:xfrm rot="10800000">
            <a:off x="4325112" y="3547872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6446520" y="3401568"/>
            <a:ext cx="0" cy="219456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Isosceles Triangle 75"/>
          <p:cNvSpPr/>
          <p:nvPr/>
        </p:nvSpPr>
        <p:spPr>
          <a:xfrm rot="10800000">
            <a:off x="6391656" y="3547872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3639312"/>
            <a:ext cx="1828800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800" b="1">
                <a:solidFill>
                  <a:srgbClr val="1677B8"/>
                </a:solidFill>
                <a:latin typeface="Microsoft YaHei"/>
              </a:rPr>
              <a:t>智能域与业务应用层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75488" y="3730752"/>
            <a:ext cx="1225296" cy="594360"/>
          </a:xfrm>
          <a:prstGeom prst="roundRect">
            <a:avLst/>
          </a:prstGeom>
          <a:solidFill>
            <a:srgbClr val="EAF4FB"/>
          </a:solidFill>
          <a:ln w="1397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12064" y="3794760"/>
            <a:ext cx="1152144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40" b="1">
                <a:solidFill>
                  <a:srgbClr val="163B5D"/>
                </a:solidFill>
                <a:latin typeface="Microsoft YaHei"/>
              </a:rPr>
              <a:t>机会洞察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2064" y="4005072"/>
            <a:ext cx="1152144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50" b="0">
                <a:solidFill>
                  <a:srgbClr val="698092"/>
                </a:solidFill>
                <a:latin typeface="Microsoft YaHei"/>
              </a:rPr>
              <a:t>市场与航线机会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700784" y="4023360"/>
            <a:ext cx="137159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Isosceles Triangle 81"/>
          <p:cNvSpPr/>
          <p:nvPr/>
        </p:nvSpPr>
        <p:spPr>
          <a:xfrm rot="5400000">
            <a:off x="1755648" y="3968496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1837943" y="3730752"/>
            <a:ext cx="1225296" cy="594360"/>
          </a:xfrm>
          <a:prstGeom prst="roundRect">
            <a:avLst/>
          </a:prstGeom>
          <a:solidFill>
            <a:srgbClr val="EAF4FB"/>
          </a:solidFill>
          <a:ln w="1397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874519" y="3794760"/>
            <a:ext cx="1152144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40" b="1">
                <a:solidFill>
                  <a:srgbClr val="163B5D"/>
                </a:solidFill>
                <a:latin typeface="Microsoft YaHei"/>
              </a:rPr>
              <a:t>客群洞察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74519" y="4005072"/>
            <a:ext cx="1152144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50" b="0">
                <a:solidFill>
                  <a:srgbClr val="698092"/>
                </a:solidFill>
                <a:latin typeface="Microsoft YaHei"/>
              </a:rPr>
              <a:t>画像与客群包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3063239" y="4023360"/>
            <a:ext cx="137161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Isosceles Triangle 86"/>
          <p:cNvSpPr/>
          <p:nvPr/>
        </p:nvSpPr>
        <p:spPr>
          <a:xfrm rot="5400000">
            <a:off x="3118103" y="3968496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3200400" y="3730752"/>
            <a:ext cx="1225296" cy="594360"/>
          </a:xfrm>
          <a:prstGeom prst="roundRect">
            <a:avLst/>
          </a:prstGeom>
          <a:solidFill>
            <a:srgbClr val="EAF4FB"/>
          </a:solidFill>
          <a:ln w="1397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236976" y="3794760"/>
            <a:ext cx="1152144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40" b="1">
                <a:solidFill>
                  <a:srgbClr val="163B5D"/>
                </a:solidFill>
                <a:latin typeface="Microsoft YaHei"/>
              </a:rPr>
              <a:t>产品匹配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36976" y="4005072"/>
            <a:ext cx="1152144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50" b="0">
                <a:solidFill>
                  <a:srgbClr val="698092"/>
                </a:solidFill>
                <a:latin typeface="Microsoft YaHei"/>
              </a:rPr>
              <a:t>产品包与权益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4425696" y="4023360"/>
            <a:ext cx="137160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Isosceles Triangle 91"/>
          <p:cNvSpPr/>
          <p:nvPr/>
        </p:nvSpPr>
        <p:spPr>
          <a:xfrm rot="5400000">
            <a:off x="4480560" y="3968496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4562856" y="3730752"/>
            <a:ext cx="1225296" cy="594360"/>
          </a:xfrm>
          <a:prstGeom prst="roundRect">
            <a:avLst/>
          </a:prstGeom>
          <a:solidFill>
            <a:srgbClr val="EAF4FB"/>
          </a:solidFill>
          <a:ln w="1397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99432" y="3794760"/>
            <a:ext cx="1152144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40" b="1">
                <a:solidFill>
                  <a:srgbClr val="163B5D"/>
                </a:solidFill>
                <a:latin typeface="Microsoft YaHei"/>
              </a:rPr>
              <a:t>活动编排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99432" y="4005072"/>
            <a:ext cx="1152144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50" b="0">
                <a:solidFill>
                  <a:srgbClr val="698092"/>
                </a:solidFill>
                <a:latin typeface="Microsoft YaHei"/>
              </a:rPr>
              <a:t>活动版本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788152" y="4023360"/>
            <a:ext cx="137160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Isosceles Triangle 96"/>
          <p:cNvSpPr/>
          <p:nvPr/>
        </p:nvSpPr>
        <p:spPr>
          <a:xfrm rot="5400000">
            <a:off x="5843016" y="3968496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5925312" y="3730752"/>
            <a:ext cx="1225296" cy="594360"/>
          </a:xfrm>
          <a:prstGeom prst="roundRect">
            <a:avLst/>
          </a:prstGeom>
          <a:solidFill>
            <a:srgbClr val="EAF4FB"/>
          </a:solidFill>
          <a:ln w="1397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961888" y="3794760"/>
            <a:ext cx="1152144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40" b="1">
                <a:solidFill>
                  <a:srgbClr val="163B5D"/>
                </a:solidFill>
                <a:latin typeface="Microsoft YaHei"/>
              </a:rPr>
              <a:t>内容生成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61888" y="4005072"/>
            <a:ext cx="1152144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50" b="0">
                <a:solidFill>
                  <a:srgbClr val="698092"/>
                </a:solidFill>
                <a:latin typeface="Microsoft YaHei"/>
              </a:rPr>
              <a:t>多渠道内容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7150608" y="4023360"/>
            <a:ext cx="137160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Isosceles Triangle 101"/>
          <p:cNvSpPr/>
          <p:nvPr/>
        </p:nvSpPr>
        <p:spPr>
          <a:xfrm rot="5400000">
            <a:off x="7205472" y="3968496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7287768" y="3730752"/>
            <a:ext cx="1225296" cy="594360"/>
          </a:xfrm>
          <a:prstGeom prst="roundRect">
            <a:avLst/>
          </a:prstGeom>
          <a:solidFill>
            <a:srgbClr val="EAF4FB"/>
          </a:solidFill>
          <a:ln w="1397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324344" y="3794760"/>
            <a:ext cx="1152144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40" b="1">
                <a:solidFill>
                  <a:srgbClr val="163B5D"/>
                </a:solidFill>
                <a:latin typeface="Microsoft YaHei"/>
              </a:rPr>
              <a:t>效果分析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324344" y="4005072"/>
            <a:ext cx="1152144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50" b="0">
                <a:solidFill>
                  <a:srgbClr val="698092"/>
                </a:solidFill>
                <a:latin typeface="Microsoft YaHei"/>
              </a:rPr>
              <a:t>转化与学习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1097280" y="4325112"/>
            <a:ext cx="0" cy="164592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Isosceles Triangle 106"/>
          <p:cNvSpPr/>
          <p:nvPr/>
        </p:nvSpPr>
        <p:spPr>
          <a:xfrm rot="10800000">
            <a:off x="1042415" y="4416552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3840480" y="4325112"/>
            <a:ext cx="0" cy="164592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Isosceles Triangle 108"/>
          <p:cNvSpPr/>
          <p:nvPr/>
        </p:nvSpPr>
        <p:spPr>
          <a:xfrm rot="10800000">
            <a:off x="3785616" y="4416552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6583680" y="4325112"/>
            <a:ext cx="0" cy="164592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Isosceles Triangle 110"/>
          <p:cNvSpPr/>
          <p:nvPr/>
        </p:nvSpPr>
        <p:spPr>
          <a:xfrm rot="10800000">
            <a:off x="6528816" y="4416552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475488" y="4553712"/>
            <a:ext cx="8174736" cy="356616"/>
          </a:xfrm>
          <a:prstGeom prst="roundRect">
            <a:avLst/>
          </a:prstGeom>
          <a:solidFill>
            <a:srgbClr val="163B5D"/>
          </a:solidFill>
          <a:ln w="6350">
            <a:solidFill>
              <a:srgbClr val="16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94360" y="4608576"/>
            <a:ext cx="1920240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营销业务工作台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651760" y="4608576"/>
            <a:ext cx="3474720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机会 · 客群 · 产品 · 内容 · 审批 · 执行 · 复盘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00800" y="4608576"/>
            <a:ext cx="2057400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10" b="0">
                <a:solidFill>
                  <a:srgbClr val="FFFFFF"/>
                </a:solidFill>
                <a:latin typeface="Microsoft YaHei"/>
              </a:rPr>
              <a:t>东航 App / 短信 / 微信 / OTA / NDC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28016"/>
            <a:ext cx="41148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100" b="1">
                <a:solidFill>
                  <a:srgbClr val="1677B8"/>
                </a:solidFill>
                <a:latin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0584"/>
            <a:ext cx="7863840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2000" b="1">
                <a:solidFill>
                  <a:srgbClr val="163B5D"/>
                </a:solidFill>
                <a:latin typeface="Microsoft YaHei"/>
              </a:rPr>
              <a:t>业务架构：从营销机会到结果学习的全链路闭环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438912"/>
            <a:ext cx="7772400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800" b="0">
                <a:solidFill>
                  <a:srgbClr val="698092"/>
                </a:solidFill>
                <a:latin typeface="Microsoft YaHei"/>
              </a:rPr>
              <a:t>以活动为主线，连接市场、客户、产品与渠道，形成可执行、可监控、可复盘的航空营销流程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740664"/>
            <a:ext cx="8375904" cy="0"/>
          </a:xfrm>
          <a:prstGeom prst="line">
            <a:avLst/>
          </a:prstGeom>
          <a:ln w="10160">
            <a:solidFill>
              <a:srgbClr val="B2C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850392"/>
            <a:ext cx="1828800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800" b="1">
                <a:solidFill>
                  <a:srgbClr val="1677B8"/>
                </a:solidFill>
                <a:latin typeface="Microsoft YaHei"/>
              </a:rPr>
              <a:t>营销业务流程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060704"/>
            <a:ext cx="1078992" cy="768096"/>
          </a:xfrm>
          <a:prstGeom prst="roundRect">
            <a:avLst/>
          </a:prstGeom>
          <a:solidFill>
            <a:srgbClr val="1677B8"/>
          </a:solidFill>
          <a:ln w="1524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124712"/>
            <a:ext cx="274320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371600"/>
            <a:ext cx="987552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Microsoft YaHei"/>
              </a:rPr>
              <a:t>机会发现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572768"/>
            <a:ext cx="987552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0">
                <a:solidFill>
                  <a:srgbClr val="FFFFFF"/>
                </a:solidFill>
                <a:latin typeface="Microsoft YaHei"/>
              </a:rPr>
              <a:t>热点、航线与经营信号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7904" y="1444752"/>
            <a:ext cx="164592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1600200" y="1389888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82496" y="1060704"/>
            <a:ext cx="1078992" cy="768096"/>
          </a:xfrm>
          <a:prstGeom prst="roundRect">
            <a:avLst/>
          </a:prstGeom>
          <a:solidFill>
            <a:srgbClr val="EAF4FB"/>
          </a:solidFill>
          <a:ln w="1524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1124712"/>
            <a:ext cx="274320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1">
                <a:solidFill>
                  <a:srgbClr val="1677B8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8216" y="1371600"/>
            <a:ext cx="987552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30" b="1">
                <a:solidFill>
                  <a:srgbClr val="163B5D"/>
                </a:solidFill>
                <a:latin typeface="Microsoft YaHei"/>
              </a:rPr>
              <a:t>客群识别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28216" y="1572768"/>
            <a:ext cx="987552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0">
                <a:solidFill>
                  <a:srgbClr val="698092"/>
                </a:solidFill>
                <a:latin typeface="Microsoft YaHei"/>
              </a:rPr>
              <a:t>画像、标签形成客群包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61488" y="1444752"/>
            <a:ext cx="164592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2843784" y="1389888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26080" y="1060704"/>
            <a:ext cx="1078992" cy="768096"/>
          </a:xfrm>
          <a:prstGeom prst="roundRect">
            <a:avLst/>
          </a:prstGeom>
          <a:solidFill>
            <a:srgbClr val="EAF4FB"/>
          </a:solidFill>
          <a:ln w="1524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80944" y="1124712"/>
            <a:ext cx="274320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1">
                <a:solidFill>
                  <a:srgbClr val="1677B8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1371600"/>
            <a:ext cx="987552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30" b="1">
                <a:solidFill>
                  <a:srgbClr val="163B5D"/>
                </a:solidFill>
                <a:latin typeface="Microsoft YaHei"/>
              </a:rPr>
              <a:t>产品匹配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1572768"/>
            <a:ext cx="987552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0">
                <a:solidFill>
                  <a:srgbClr val="698092"/>
                </a:solidFill>
                <a:latin typeface="Microsoft YaHei"/>
              </a:rPr>
              <a:t>机票、卡券、辅营与权益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05072" y="1444752"/>
            <a:ext cx="164592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4087368" y="1389888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69664" y="1060704"/>
            <a:ext cx="1078992" cy="768096"/>
          </a:xfrm>
          <a:prstGeom prst="roundRect">
            <a:avLst/>
          </a:prstGeom>
          <a:solidFill>
            <a:srgbClr val="1677B8"/>
          </a:solidFill>
          <a:ln w="1524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1124712"/>
            <a:ext cx="274320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15384" y="1371600"/>
            <a:ext cx="987552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Microsoft YaHei"/>
              </a:rPr>
              <a:t>内容生成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15384" y="1572768"/>
            <a:ext cx="987552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0">
                <a:solidFill>
                  <a:srgbClr val="FFFFFF"/>
                </a:solidFill>
                <a:latin typeface="Microsoft YaHei"/>
              </a:rPr>
              <a:t>按客群和渠道生成版本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248656" y="1444752"/>
            <a:ext cx="164592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5330952" y="1389888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13248" y="1060704"/>
            <a:ext cx="1078992" cy="768096"/>
          </a:xfrm>
          <a:prstGeom prst="roundRect">
            <a:avLst/>
          </a:prstGeom>
          <a:solidFill>
            <a:srgbClr val="EAF4FB"/>
          </a:solidFill>
          <a:ln w="1524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68112" y="1124712"/>
            <a:ext cx="274320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1">
                <a:solidFill>
                  <a:srgbClr val="1677B8"/>
                </a:solidFill>
                <a:latin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8968" y="1371600"/>
            <a:ext cx="987552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30" b="1">
                <a:solidFill>
                  <a:srgbClr val="163B5D"/>
                </a:solidFill>
                <a:latin typeface="Microsoft YaHei"/>
              </a:rPr>
              <a:t>审批执行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8968" y="1572768"/>
            <a:ext cx="987552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0">
                <a:solidFill>
                  <a:srgbClr val="698092"/>
                </a:solidFill>
                <a:latin typeface="Microsoft YaHei"/>
              </a:rPr>
              <a:t>预算、合规、频控确认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92240" y="1444752"/>
            <a:ext cx="164592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6574536" y="1389888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56832" y="1060704"/>
            <a:ext cx="1078992" cy="768096"/>
          </a:xfrm>
          <a:prstGeom prst="roundRect">
            <a:avLst/>
          </a:prstGeom>
          <a:solidFill>
            <a:srgbClr val="EAF4FB"/>
          </a:solidFill>
          <a:ln w="1524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11696" y="1124712"/>
            <a:ext cx="274320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1">
                <a:solidFill>
                  <a:srgbClr val="1677B8"/>
                </a:solidFill>
                <a:latin typeface="Microsoft YaHe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02552" y="1371600"/>
            <a:ext cx="987552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30" b="1">
                <a:solidFill>
                  <a:srgbClr val="163B5D"/>
                </a:solidFill>
                <a:latin typeface="Microsoft YaHei"/>
              </a:rPr>
              <a:t>触达监控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02552" y="1572768"/>
            <a:ext cx="987552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0">
                <a:solidFill>
                  <a:srgbClr val="698092"/>
                </a:solidFill>
                <a:latin typeface="Microsoft YaHei"/>
              </a:rPr>
              <a:t>分发任务并回收回执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735824" y="1444752"/>
            <a:ext cx="164592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7818120" y="1389888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900416" y="1060704"/>
            <a:ext cx="1078992" cy="768096"/>
          </a:xfrm>
          <a:prstGeom prst="roundRect">
            <a:avLst/>
          </a:prstGeom>
          <a:solidFill>
            <a:srgbClr val="1677B8"/>
          </a:solidFill>
          <a:ln w="1524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0" y="1124712"/>
            <a:ext cx="274320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46136" y="1371600"/>
            <a:ext cx="987552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Microsoft YaHei"/>
              </a:rPr>
              <a:t>复盘学习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46136" y="1572768"/>
            <a:ext cx="987552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0">
                <a:solidFill>
                  <a:srgbClr val="FFFFFF"/>
                </a:solidFill>
                <a:latin typeface="Microsoft YaHei"/>
              </a:rPr>
              <a:t>转化、收入反馈策略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2057400"/>
            <a:ext cx="1828800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800" b="1">
                <a:solidFill>
                  <a:srgbClr val="1677B8"/>
                </a:solidFill>
                <a:latin typeface="Microsoft YaHei"/>
              </a:rPr>
              <a:t>业务对象流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2249424"/>
            <a:ext cx="1170432" cy="557784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B2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" y="2322576"/>
            <a:ext cx="1115568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30" b="1">
                <a:solidFill>
                  <a:srgbClr val="163B5D"/>
                </a:solidFill>
                <a:latin typeface="Microsoft YaHei"/>
              </a:rPr>
              <a:t>市场机会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2532888"/>
            <a:ext cx="1115568" cy="12801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1">
                <a:solidFill>
                  <a:srgbClr val="1677B8"/>
                </a:solidFill>
                <a:latin typeface="Microsoft YaHei"/>
              </a:rPr>
              <a:t>Opportunity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673352" y="2532888"/>
            <a:ext cx="182880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/>
          <p:cNvSpPr/>
          <p:nvPr/>
        </p:nvSpPr>
        <p:spPr>
          <a:xfrm rot="5400000">
            <a:off x="1764792" y="2478024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56232" y="2249424"/>
            <a:ext cx="1170432" cy="557784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B2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83664" y="2322576"/>
            <a:ext cx="1115568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30" b="1">
                <a:solidFill>
                  <a:srgbClr val="163B5D"/>
                </a:solidFill>
                <a:latin typeface="Microsoft YaHei"/>
              </a:rPr>
              <a:t>客群包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83664" y="2532888"/>
            <a:ext cx="1115568" cy="12801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1">
                <a:solidFill>
                  <a:srgbClr val="1677B8"/>
                </a:solidFill>
                <a:latin typeface="Microsoft YaHei"/>
              </a:rPr>
              <a:t>Audience Package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026664" y="2532888"/>
            <a:ext cx="182880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Isosceles Triangle 56"/>
          <p:cNvSpPr/>
          <p:nvPr/>
        </p:nvSpPr>
        <p:spPr>
          <a:xfrm rot="5400000">
            <a:off x="3118104" y="2478024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209544" y="2249424"/>
            <a:ext cx="1170432" cy="557784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B2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36975" y="2322576"/>
            <a:ext cx="1115568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30" b="1">
                <a:solidFill>
                  <a:srgbClr val="163B5D"/>
                </a:solidFill>
                <a:latin typeface="Microsoft YaHei"/>
              </a:rPr>
              <a:t>产品包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36975" y="2532888"/>
            <a:ext cx="1115568" cy="12801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1">
                <a:solidFill>
                  <a:srgbClr val="1677B8"/>
                </a:solidFill>
                <a:latin typeface="Microsoft YaHei"/>
              </a:rPr>
              <a:t>Product Package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379976" y="2532888"/>
            <a:ext cx="182880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Isosceles Triangle 61"/>
          <p:cNvSpPr/>
          <p:nvPr/>
        </p:nvSpPr>
        <p:spPr>
          <a:xfrm rot="5400000">
            <a:off x="4471416" y="2478024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562855" y="2249424"/>
            <a:ext cx="1170432" cy="557784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B2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90288" y="2322576"/>
            <a:ext cx="1115568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30" b="1">
                <a:solidFill>
                  <a:srgbClr val="163B5D"/>
                </a:solidFill>
                <a:latin typeface="Microsoft YaHei"/>
              </a:rPr>
              <a:t>活动版本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90288" y="2532888"/>
            <a:ext cx="1115568" cy="12801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1">
                <a:solidFill>
                  <a:srgbClr val="1677B8"/>
                </a:solidFill>
                <a:latin typeface="Microsoft YaHei"/>
              </a:rPr>
              <a:t>Campaign Version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733288" y="2532888"/>
            <a:ext cx="182879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Isosceles Triangle 66"/>
          <p:cNvSpPr/>
          <p:nvPr/>
        </p:nvSpPr>
        <p:spPr>
          <a:xfrm rot="5400000">
            <a:off x="5824727" y="2478024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5916168" y="2249424"/>
            <a:ext cx="1170432" cy="557784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B2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0" y="2322576"/>
            <a:ext cx="1115568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30" b="1">
                <a:solidFill>
                  <a:srgbClr val="163B5D"/>
                </a:solidFill>
                <a:latin typeface="Microsoft YaHei"/>
              </a:rPr>
              <a:t>渠道任务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43600" y="2532888"/>
            <a:ext cx="1115568" cy="12801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1">
                <a:solidFill>
                  <a:srgbClr val="1677B8"/>
                </a:solidFill>
                <a:latin typeface="Microsoft YaHei"/>
              </a:rPr>
              <a:t>Channel Task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086600" y="2532888"/>
            <a:ext cx="182879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/>
          <p:cNvSpPr/>
          <p:nvPr/>
        </p:nvSpPr>
        <p:spPr>
          <a:xfrm rot="5400000">
            <a:off x="7178040" y="2478024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269480" y="2249424"/>
            <a:ext cx="1170432" cy="557784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B2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96912" y="2322576"/>
            <a:ext cx="1115568" cy="1554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30" b="1">
                <a:solidFill>
                  <a:srgbClr val="163B5D"/>
                </a:solidFill>
                <a:latin typeface="Microsoft YaHei"/>
              </a:rPr>
              <a:t>营销结果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96912" y="2532888"/>
            <a:ext cx="1115568" cy="12801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1">
                <a:solidFill>
                  <a:srgbClr val="1677B8"/>
                </a:solidFill>
                <a:latin typeface="Microsoft YaHei"/>
              </a:rPr>
              <a:t>Marketing Result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" y="3026664"/>
            <a:ext cx="1828800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800" b="1">
                <a:solidFill>
                  <a:srgbClr val="1677B8"/>
                </a:solidFill>
                <a:latin typeface="Microsoft YaHei"/>
              </a:rPr>
              <a:t>平台支撑与责任边界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75488" y="3209544"/>
            <a:ext cx="1920240" cy="1060704"/>
          </a:xfrm>
          <a:prstGeom prst="roundRect">
            <a:avLst/>
          </a:prstGeom>
          <a:solidFill>
            <a:srgbClr val="EAF4FB"/>
          </a:solidFill>
          <a:ln w="13970">
            <a:solidFill>
              <a:srgbClr val="B2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3300984"/>
            <a:ext cx="1773936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50" b="1">
                <a:solidFill>
                  <a:srgbClr val="163B5D"/>
                </a:solidFill>
                <a:latin typeface="Microsoft YaHei"/>
              </a:rPr>
              <a:t>营销人员工作台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6928" y="3584448"/>
            <a:ext cx="17373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00" b="0">
                <a:solidFill>
                  <a:srgbClr val="2D495E"/>
                </a:solidFill>
                <a:latin typeface="Microsoft YaHei"/>
              </a:rPr>
              <a:t>机会确认 · 客群复核
产品引用 · 内容审核
预算审批 · 结果判断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633472" y="3209544"/>
            <a:ext cx="1920240" cy="1060704"/>
          </a:xfrm>
          <a:prstGeom prst="roundRect">
            <a:avLst/>
          </a:prstGeom>
          <a:solidFill>
            <a:srgbClr val="F4F9FC"/>
          </a:solidFill>
          <a:ln w="13970">
            <a:solidFill>
              <a:srgbClr val="B2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06624" y="3300984"/>
            <a:ext cx="1773936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50" b="1">
                <a:solidFill>
                  <a:srgbClr val="163B5D"/>
                </a:solidFill>
                <a:latin typeface="Microsoft YaHei"/>
              </a:rPr>
              <a:t>产品管理平台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24912" y="3584448"/>
            <a:ext cx="17373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00" b="0">
                <a:solidFill>
                  <a:srgbClr val="2D495E"/>
                </a:solidFill>
                <a:latin typeface="Microsoft YaHei"/>
              </a:rPr>
              <a:t>基础产品 · 价格库存
权益资格 · 服务交付
产品包可用状态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791456" y="3209544"/>
            <a:ext cx="1920240" cy="1060704"/>
          </a:xfrm>
          <a:prstGeom prst="roundRect">
            <a:avLst/>
          </a:prstGeom>
          <a:solidFill>
            <a:srgbClr val="F4F9FC"/>
          </a:solidFill>
          <a:ln w="13970">
            <a:solidFill>
              <a:srgbClr val="B2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864608" y="3300984"/>
            <a:ext cx="1773936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50" b="1">
                <a:solidFill>
                  <a:srgbClr val="163B5D"/>
                </a:solidFill>
                <a:latin typeface="Microsoft YaHei"/>
              </a:rPr>
              <a:t>用户画像与数据服务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82896" y="3584448"/>
            <a:ext cx="17373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00" b="0">
                <a:solidFill>
                  <a:srgbClr val="2D495E"/>
                </a:solidFill>
                <a:latin typeface="Microsoft YaHei"/>
              </a:rPr>
              <a:t>画像同步 · 标签服务
航班经营 · 市场热点
活动与渠道回执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949440" y="3209544"/>
            <a:ext cx="1700784" cy="1060704"/>
          </a:xfrm>
          <a:prstGeom prst="roundRect">
            <a:avLst/>
          </a:prstGeom>
          <a:solidFill>
            <a:srgbClr val="163B5D"/>
          </a:solidFill>
          <a:ln w="1397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022592" y="3300984"/>
            <a:ext cx="1554480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AI + 本体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40879" y="3584448"/>
            <a:ext cx="1517904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Microsoft YaHei"/>
              </a:rPr>
              <a:t>发现规律 · 关系推理
生成建议 · 证据追溯
人工确认 · 持续学习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2395728" y="3739896"/>
            <a:ext cx="237744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Isosceles Triangle 89"/>
          <p:cNvSpPr/>
          <p:nvPr/>
        </p:nvSpPr>
        <p:spPr>
          <a:xfrm rot="5400000">
            <a:off x="2560320" y="3685032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4553712" y="3739896"/>
            <a:ext cx="237744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Isosceles Triangle 91"/>
          <p:cNvSpPr/>
          <p:nvPr/>
        </p:nvSpPr>
        <p:spPr>
          <a:xfrm rot="5400000">
            <a:off x="4718304" y="3685032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6711696" y="3739896"/>
            <a:ext cx="237744" cy="0"/>
          </a:xfrm>
          <a:prstGeom prst="line">
            <a:avLst/>
          </a:prstGeom>
          <a:ln w="1524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Isosceles Triangle 93"/>
          <p:cNvSpPr/>
          <p:nvPr/>
        </p:nvSpPr>
        <p:spPr>
          <a:xfrm rot="5400000">
            <a:off x="6876288" y="3685032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75488" y="4489704"/>
            <a:ext cx="8174736" cy="384048"/>
          </a:xfrm>
          <a:prstGeom prst="roundRect">
            <a:avLst/>
          </a:prstGeom>
          <a:solidFill>
            <a:srgbClr val="DCF2FA"/>
          </a:solidFill>
          <a:ln w="1016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21792" y="4562856"/>
            <a:ext cx="1280160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163B5D"/>
                </a:solidFill>
                <a:latin typeface="Microsoft YaHei"/>
              </a:rPr>
              <a:t>业务价值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11680" y="4562856"/>
            <a:ext cx="1920240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00" b="1">
                <a:solidFill>
                  <a:srgbClr val="1677B8"/>
                </a:solidFill>
                <a:latin typeface="Microsoft YaHei"/>
              </a:rPr>
              <a:t>缩短活动生产周期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041648" y="4562856"/>
            <a:ext cx="2011680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00" b="1">
                <a:solidFill>
                  <a:srgbClr val="1677B8"/>
                </a:solidFill>
                <a:latin typeface="Microsoft YaHei"/>
              </a:rPr>
              <a:t>提高客群—产品适配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172200" y="4562856"/>
            <a:ext cx="2240280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00" b="1">
                <a:solidFill>
                  <a:srgbClr val="1677B8"/>
                </a:solidFill>
                <a:latin typeface="Microsoft YaHei"/>
              </a:rPr>
              <a:t>结果可追溯 · 策略持续学习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