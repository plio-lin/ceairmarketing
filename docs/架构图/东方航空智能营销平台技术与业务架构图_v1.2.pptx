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73152"/>
            <a:ext cx="4114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18BC2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"/>
            <a:ext cx="7955279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193E5B"/>
                </a:solidFill>
                <a:latin typeface="Microsoft YaHei"/>
              </a:rPr>
              <a:t>技术架构：本体驱动的智能营销平台分层架构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781812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750" b="0">
                <a:solidFill>
                  <a:srgbClr val="637889"/>
                </a:solidFill>
                <a:latin typeface="Microsoft YaHei"/>
              </a:rPr>
              <a:t>自底向上构建数据、知识与本体、三模块与六智能域、营销服务及渠道触点，形成双向数据闭环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" y="658368"/>
            <a:ext cx="8449056" cy="0"/>
          </a:xfrm>
          <a:prstGeom prst="line">
            <a:avLst/>
          </a:prstGeom>
          <a:ln w="10160">
            <a:solidFill>
              <a:srgbClr val="4F77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086600" y="448056"/>
            <a:ext cx="109728" cy="109728"/>
          </a:xfrm>
          <a:prstGeom prst="rect">
            <a:avLst/>
          </a:prstGeom>
          <a:solidFill>
            <a:srgbClr val="42AE2F"/>
          </a:solidFill>
          <a:ln w="381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已支持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952" y="448056"/>
            <a:ext cx="109728" cy="109728"/>
          </a:xfrm>
          <a:prstGeom prst="rect">
            <a:avLst/>
          </a:prstGeom>
          <a:solidFill>
            <a:srgbClr val="FFBE00"/>
          </a:solidFill>
          <a:ln w="381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需升级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7304" y="448056"/>
            <a:ext cx="109728" cy="109728"/>
          </a:xfrm>
          <a:prstGeom prst="rect">
            <a:avLst/>
          </a:prstGeom>
          <a:solidFill>
            <a:srgbClr val="F05252"/>
          </a:solidFill>
          <a:ln w="381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新增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749808"/>
            <a:ext cx="548640" cy="502920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749808"/>
            <a:ext cx="5486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渠道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749808"/>
            <a:ext cx="8183879" cy="502920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896112"/>
            <a:ext cx="114300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896112"/>
            <a:ext cx="110642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东航 App / 小程序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896112"/>
            <a:ext cx="123444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896112"/>
            <a:ext cx="119786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短信 / 微信 / 邮件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896112"/>
            <a:ext cx="114300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896112"/>
            <a:ext cx="110642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官网 / 客服中心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896112"/>
            <a:ext cx="105156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7" y="896112"/>
            <a:ext cx="1014983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机场 / 客舱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896112"/>
            <a:ext cx="123444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896112"/>
            <a:ext cx="119786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企业用户 / 合作渠道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896112"/>
            <a:ext cx="1234440" cy="22860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896112"/>
            <a:ext cx="119786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OTA / NDC / ……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353312"/>
            <a:ext cx="548640" cy="512064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" y="1353312"/>
            <a:ext cx="54864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营销
服务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1353312"/>
            <a:ext cx="8183879" cy="512064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" y="1508760"/>
            <a:ext cx="1115568" cy="210312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1508760"/>
            <a:ext cx="1078992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统一接入服务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85416" y="1508760"/>
            <a:ext cx="1115568" cy="210312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3704" y="1508760"/>
            <a:ext cx="1078992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活动查询服务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9856" y="1508760"/>
            <a:ext cx="1115568" cy="210312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38144" y="1508760"/>
            <a:ext cx="1078992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客群与产品服务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54296" y="1508760"/>
            <a:ext cx="1115568" cy="210312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1508760"/>
            <a:ext cx="1078992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内容与渠道服务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8736" y="1508760"/>
            <a:ext cx="1115568" cy="210312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1508760"/>
            <a:ext cx="1078992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审批执行服务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23176" y="1508760"/>
            <a:ext cx="1417320" cy="210312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41464" y="1508760"/>
            <a:ext cx="1380744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icrosoft YaHei"/>
              </a:rPr>
              <a:t>监控回执与结果服务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1956816"/>
            <a:ext cx="548640" cy="2103120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1956816"/>
            <a:ext cx="548640" cy="2103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三模块
+
六智能域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1956816"/>
            <a:ext cx="8183879" cy="2103120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" y="2112264"/>
            <a:ext cx="7863840" cy="987552"/>
          </a:xfrm>
          <a:prstGeom prst="rect">
            <a:avLst/>
          </a:prstGeom>
          <a:solidFill>
            <a:srgbClr val="F3F7FA"/>
          </a:solidFill>
          <a:ln w="1397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1832" y="2112264"/>
            <a:ext cx="914400" cy="98755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2112264"/>
            <a:ext cx="877824" cy="9875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活动模块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93392" y="2194560"/>
            <a:ext cx="850392" cy="210312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活动策划立项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16936" y="2194560"/>
            <a:ext cx="850392" cy="210312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35224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活动创建配置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2194560"/>
            <a:ext cx="850392" cy="210312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58768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规则管理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64024" y="2194560"/>
            <a:ext cx="850392" cy="210312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82312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预算审批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87568" y="2194560"/>
            <a:ext cx="850392" cy="210312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05855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活动触达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11112" y="2194560"/>
            <a:ext cx="850392" cy="210312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2194560"/>
            <a:ext cx="813816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活动版本追踪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34656" y="2194560"/>
            <a:ext cx="1078992" cy="210312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2194560"/>
            <a:ext cx="1042415" cy="2103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执行监控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93392" y="2578608"/>
            <a:ext cx="1417320" cy="4389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03120" y="2487168"/>
            <a:ext cx="1197864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21408" y="2487168"/>
            <a:ext cx="1161288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产品匹配智能域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2807208"/>
            <a:ext cx="1197864" cy="-9144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21408" y="2807208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候选产品筛选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2852927"/>
            <a:ext cx="1197864" cy="-914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21408" y="2852927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客群产品匹配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47872" y="2578608"/>
            <a:ext cx="1417320" cy="4389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0" y="2487168"/>
            <a:ext cx="1197864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75887" y="2487168"/>
            <a:ext cx="1161288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活动编排智能域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2807208"/>
            <a:ext cx="1197864" cy="-9144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887" y="2807208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时机频次预算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0" y="2852927"/>
            <a:ext cx="1197864" cy="-914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75887" y="2852927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活动策略生成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02352" y="2578608"/>
            <a:ext cx="1417320" cy="4389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12080" y="2487168"/>
            <a:ext cx="1197864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30368" y="2487168"/>
            <a:ext cx="1161288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内容生成智能域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12080" y="2807208"/>
            <a:ext cx="1197864" cy="-914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30368" y="2807208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多模态内容生成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2852927"/>
            <a:ext cx="1197864" cy="-9144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30368" y="2852927"/>
            <a:ext cx="1161288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渠道内容适配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56832" y="2578608"/>
            <a:ext cx="1956816" cy="4389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66560" y="2487168"/>
            <a:ext cx="1737360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84848" y="2487168"/>
            <a:ext cx="1700784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效果分析智能域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0" y="2807208"/>
            <a:ext cx="1737360" cy="-9144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84848" y="2807208"/>
            <a:ext cx="1700784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触达转化归因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66560" y="2852927"/>
            <a:ext cx="1737360" cy="-914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84848" y="2852927"/>
            <a:ext cx="1700784" cy="-914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产品客群诊断 / 迭代优化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2688" y="3246120"/>
            <a:ext cx="3794760" cy="658368"/>
          </a:xfrm>
          <a:prstGeom prst="rect">
            <a:avLst/>
          </a:prstGeom>
          <a:solidFill>
            <a:srgbClr val="F3F7FA"/>
          </a:solidFill>
          <a:ln w="1397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41832" y="3246120"/>
            <a:ext cx="914400" cy="6583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" y="3246120"/>
            <a:ext cx="877824" cy="658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产品模块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93392" y="3319272"/>
            <a:ext cx="749808" cy="182880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11680" y="3319272"/>
            <a:ext cx="713231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活动产品创建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16352" y="3319272"/>
            <a:ext cx="749808" cy="182880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34640" y="3319272"/>
            <a:ext cx="713231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审批发布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39312" y="3319272"/>
            <a:ext cx="749808" cy="182880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0" y="3319272"/>
            <a:ext cx="713231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服务交付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93392" y="3621024"/>
            <a:ext cx="2542032" cy="2103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03120" y="3529584"/>
            <a:ext cx="2322576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21408" y="3529584"/>
            <a:ext cx="2286000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机会洞察智能域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03120" y="3849624"/>
            <a:ext cx="2322576" cy="-19202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121408" y="3849624"/>
            <a:ext cx="2286000" cy="-1920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市场 / 航线机会识别 · 价值排序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92040" y="3246120"/>
            <a:ext cx="3904487" cy="658368"/>
          </a:xfrm>
          <a:prstGeom prst="rect">
            <a:avLst/>
          </a:prstGeom>
          <a:solidFill>
            <a:srgbClr val="F3F7FA"/>
          </a:solidFill>
          <a:ln w="1397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901184" y="3246120"/>
            <a:ext cx="914400" cy="6583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919472" y="3246120"/>
            <a:ext cx="877824" cy="658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策略模块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3319272"/>
            <a:ext cx="777240" cy="182880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61888" y="3319272"/>
            <a:ext cx="74066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策略模板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93992" y="3319272"/>
            <a:ext cx="777240" cy="182880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12279" y="3319272"/>
            <a:ext cx="74066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用户保护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44383" y="3319272"/>
            <a:ext cx="960120" cy="182880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62671" y="3319272"/>
            <a:ext cx="92354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版本审计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943600" y="3621024"/>
            <a:ext cx="2660904" cy="210312"/>
          </a:xfrm>
          <a:prstGeom prst="rect">
            <a:avLst/>
          </a:prstGeom>
          <a:solidFill>
            <a:srgbClr val="F8FAFC"/>
          </a:solidFill>
          <a:ln w="19050">
            <a:solidFill>
              <a:srgbClr val="F789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053328" y="3529584"/>
            <a:ext cx="2441448" cy="228600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71616" y="3529584"/>
            <a:ext cx="2404872" cy="228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客群洞察智能域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053328" y="3849624"/>
            <a:ext cx="2441448" cy="-192024"/>
          </a:xfrm>
          <a:prstGeom prst="rect">
            <a:avLst/>
          </a:prstGeom>
          <a:solidFill>
            <a:srgbClr val="F05252"/>
          </a:solidFill>
          <a:ln w="635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71616" y="3849624"/>
            <a:ext cx="2404872" cy="-1920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用户特征洞察 · 关系扩展分群 · 客群分析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4592" y="4151376"/>
            <a:ext cx="548640" cy="484632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4592" y="4151376"/>
            <a:ext cx="548640" cy="4846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知识
本体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240" y="4151376"/>
            <a:ext cx="8183879" cy="484632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" y="4279392"/>
            <a:ext cx="1161288" cy="201168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8408" y="4279392"/>
            <a:ext cx="1124712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营销知识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40280" y="4279392"/>
            <a:ext cx="1298448" cy="201168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258568" y="4279392"/>
            <a:ext cx="1261872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本体对象模型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0" y="4279392"/>
            <a:ext cx="1298448" cy="201168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75887" y="4279392"/>
            <a:ext cx="1261872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关系与业务规则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74920" y="4279392"/>
            <a:ext cx="1188720" cy="201168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3207" y="4279392"/>
            <a:ext cx="115214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证据与溯源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382512" y="4279392"/>
            <a:ext cx="1170432" cy="201168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400800" y="4279392"/>
            <a:ext cx="1133856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版本与置信度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71816" y="4279392"/>
            <a:ext cx="1078992" cy="201168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690104" y="4279392"/>
            <a:ext cx="1042415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人工确认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4592" y="4718304"/>
            <a:ext cx="548640" cy="292608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64592" y="4718304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数据底座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77240" y="4718304"/>
            <a:ext cx="8183879" cy="292608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32688" y="4773168"/>
            <a:ext cx="1097280" cy="146304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50976" y="4773168"/>
            <a:ext cx="106070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产品数据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139696" y="4773168"/>
            <a:ext cx="1097280" cy="146304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157984" y="4773168"/>
            <a:ext cx="106070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用户画像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46704" y="4773168"/>
            <a:ext cx="1188720" cy="146304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364992" y="4773168"/>
            <a:ext cx="115214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订单 / 客票 / 行为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45152" y="4773168"/>
            <a:ext cx="1234440" cy="146304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663440" y="4773168"/>
            <a:ext cx="119786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航班 / 库存 / 运价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989320" y="4773168"/>
            <a:ext cx="1143000" cy="146304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007607" y="4773168"/>
            <a:ext cx="110642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市场 / 热点 / 舆情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242048" y="4773168"/>
            <a:ext cx="1508760" cy="146304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260336" y="4773168"/>
            <a:ext cx="1472184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Microsoft YaHei"/>
              </a:rPr>
              <a:t>渠道 / 回执 / 收入效果</a:t>
            </a:r>
          </a:p>
        </p:txBody>
      </p:sp>
      <p:cxnSp>
        <p:nvCxnSpPr>
          <p:cNvPr id="148" name="Connector 147"/>
          <p:cNvCxnSpPr/>
          <p:nvPr/>
        </p:nvCxnSpPr>
        <p:spPr>
          <a:xfrm flipV="1">
            <a:off x="2514600" y="4617720"/>
            <a:ext cx="0" cy="100584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>
            <a:off x="2468880" y="4581144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 flipV="1">
            <a:off x="2514600" y="4050791"/>
            <a:ext cx="0" cy="100585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sosceles Triangle 150"/>
          <p:cNvSpPr/>
          <p:nvPr/>
        </p:nvSpPr>
        <p:spPr>
          <a:xfrm>
            <a:off x="2468880" y="4014215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V="1">
            <a:off x="4709160" y="4617720"/>
            <a:ext cx="0" cy="100584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/>
          <p:cNvSpPr/>
          <p:nvPr/>
        </p:nvSpPr>
        <p:spPr>
          <a:xfrm>
            <a:off x="4663440" y="4581144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V="1">
            <a:off x="4709160" y="4050791"/>
            <a:ext cx="0" cy="100585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sosceles Triangle 154"/>
          <p:cNvSpPr/>
          <p:nvPr/>
        </p:nvSpPr>
        <p:spPr>
          <a:xfrm>
            <a:off x="4663440" y="4014215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7086600" y="4617720"/>
            <a:ext cx="0" cy="100584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Isosceles Triangle 156"/>
          <p:cNvSpPr/>
          <p:nvPr/>
        </p:nvSpPr>
        <p:spPr>
          <a:xfrm>
            <a:off x="7040880" y="4581144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 flipV="1">
            <a:off x="7086600" y="4050791"/>
            <a:ext cx="0" cy="100585"/>
          </a:xfrm>
          <a:prstGeom prst="line">
            <a:avLst/>
          </a:prstGeom>
          <a:ln w="1397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sosceles Triangle 158"/>
          <p:cNvSpPr/>
          <p:nvPr/>
        </p:nvSpPr>
        <p:spPr>
          <a:xfrm>
            <a:off x="7040880" y="4014215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8851392" y="2468880"/>
            <a:ext cx="0" cy="1920240"/>
          </a:xfrm>
          <a:prstGeom prst="line">
            <a:avLst/>
          </a:prstGeom>
          <a:ln w="13970">
            <a:solidFill>
              <a:srgbClr val="42AE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Isosceles Triangle 160"/>
          <p:cNvSpPr/>
          <p:nvPr/>
        </p:nvSpPr>
        <p:spPr>
          <a:xfrm rot="10800000">
            <a:off x="8805672" y="4352544"/>
            <a:ext cx="91440" cy="91440"/>
          </a:xfrm>
          <a:prstGeom prst="triangle">
            <a:avLst/>
          </a:prstGeom>
          <a:solidFill>
            <a:srgbClr val="42A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58200" y="3200400"/>
            <a:ext cx="36576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42AE2F"/>
                </a:solidFill>
                <a:latin typeface="Microsoft YaHei"/>
              </a:rPr>
              <a:t>结果
回写
本体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73152"/>
            <a:ext cx="4114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18BC2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"/>
            <a:ext cx="7955279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193E5B"/>
                </a:solidFill>
                <a:latin typeface="Microsoft YaHei"/>
              </a:rPr>
              <a:t>业务架构：活动全生命周期与 AI 协同营销闭环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781812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750" b="0">
                <a:solidFill>
                  <a:srgbClr val="637889"/>
                </a:solidFill>
                <a:latin typeface="Microsoft YaHei"/>
              </a:rPr>
              <a:t>围绕机会、客群、产品、内容、审批、执行和复盘组织业务矩阵，智能域嵌入关键决策节点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" y="658368"/>
            <a:ext cx="8449056" cy="0"/>
          </a:xfrm>
          <a:prstGeom prst="line">
            <a:avLst/>
          </a:prstGeom>
          <a:ln w="10160">
            <a:solidFill>
              <a:srgbClr val="4F77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086600" y="448056"/>
            <a:ext cx="109728" cy="109728"/>
          </a:xfrm>
          <a:prstGeom prst="rect">
            <a:avLst/>
          </a:prstGeom>
          <a:solidFill>
            <a:srgbClr val="42AE2F"/>
          </a:solidFill>
          <a:ln w="381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已支持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952" y="448056"/>
            <a:ext cx="109728" cy="109728"/>
          </a:xfrm>
          <a:prstGeom prst="rect">
            <a:avLst/>
          </a:prstGeom>
          <a:solidFill>
            <a:srgbClr val="FFBE00"/>
          </a:solidFill>
          <a:ln w="381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需升级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7304" y="448056"/>
            <a:ext cx="109728" cy="109728"/>
          </a:xfrm>
          <a:prstGeom prst="rect">
            <a:avLst/>
          </a:prstGeom>
          <a:solidFill>
            <a:srgbClr val="F05252"/>
          </a:solidFill>
          <a:ln w="381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429768"/>
            <a:ext cx="36576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530" b="1">
                <a:solidFill>
                  <a:srgbClr val="637889"/>
                </a:solidFill>
                <a:latin typeface="Microsoft YaHei"/>
              </a:rPr>
              <a:t>新增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749808"/>
            <a:ext cx="548640" cy="438912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749808"/>
            <a:ext cx="548640" cy="43891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业务触点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749808"/>
            <a:ext cx="8183879" cy="438912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877824"/>
            <a:ext cx="109728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877824"/>
            <a:ext cx="106070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官方线上触点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877824"/>
            <a:ext cx="109728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877824"/>
            <a:ext cx="106070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服务场景触点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877824"/>
            <a:ext cx="109728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877824"/>
            <a:ext cx="106070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机场与客舱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877824"/>
            <a:ext cx="114300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7" y="877824"/>
            <a:ext cx="110642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企业客户渠道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877824"/>
            <a:ext cx="118872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1888" y="877824"/>
            <a:ext cx="115214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合作与分销渠道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877824"/>
            <a:ext cx="1417320" cy="182880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877824"/>
            <a:ext cx="1380744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Microsoft YaHei"/>
              </a:rPr>
              <a:t>渠道回执与交易结果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80160"/>
            <a:ext cx="548640" cy="2606040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" y="1280160"/>
            <a:ext cx="548640" cy="2606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营销业务
全流程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1280160"/>
            <a:ext cx="8183879" cy="2606040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" y="1417320"/>
            <a:ext cx="987552" cy="256032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01  机会发现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29384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984248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57400" y="1417320"/>
            <a:ext cx="987552" cy="25603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02  客群识别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44952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3099815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72968" y="1417320"/>
            <a:ext cx="987552" cy="25603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91256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03  产品匹配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60520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4215383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88536" y="1417320"/>
            <a:ext cx="987552" cy="25603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6824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04  内容生产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276088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5330952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04104" y="1417320"/>
            <a:ext cx="987552" cy="25603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05  审批发布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91656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6446520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19672" y="1417320"/>
            <a:ext cx="987552" cy="256032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59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06  触达监控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507224" y="1545336"/>
            <a:ext cx="128016" cy="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7562088" y="1499616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35240" y="1417320"/>
            <a:ext cx="987552" cy="256032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53527" y="1417320"/>
            <a:ext cx="950976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07  复盘学习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" y="1810512"/>
            <a:ext cx="749808" cy="310896"/>
          </a:xfrm>
          <a:prstGeom prst="rect">
            <a:avLst/>
          </a:prstGeom>
          <a:solidFill>
            <a:srgbClr val="5099CD"/>
          </a:solidFill>
          <a:ln w="6350">
            <a:solidFill>
              <a:srgbClr val="509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1810512"/>
            <a:ext cx="713231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业务输入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5564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3936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热点 / 航线 / 经营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6148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79776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画像 / 标签 / 行为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6732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85615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产品 / 库存 / 资格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7316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91456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活动目标 / 渠道约束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7900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296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预算 / 合规 / 频控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8484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03136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发送 / 回执 / 状态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90688" y="1810512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08975" y="1810512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转化 / 收入 / 失败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" y="2276856"/>
            <a:ext cx="749808" cy="310896"/>
          </a:xfrm>
          <a:prstGeom prst="rect">
            <a:avLst/>
          </a:prstGeom>
          <a:solidFill>
            <a:srgbClr val="5099CD"/>
          </a:solidFill>
          <a:ln w="6350">
            <a:solidFill>
              <a:srgbClr val="509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2276856"/>
            <a:ext cx="713231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核心动作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5564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73936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发现经营窗口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6148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79776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组合并冻结客群包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6732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85615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匹配并引用产品包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7316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91456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生成并审核内容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900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97296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提交审批并发布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8484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03136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分发任务并监控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90688" y="2276856"/>
            <a:ext cx="914400" cy="310896"/>
          </a:xfrm>
          <a:prstGeom prst="rect">
            <a:avLst/>
          </a:prstGeom>
          <a:solidFill>
            <a:srgbClr val="FFBE00"/>
          </a:solidFill>
          <a:ln w="6350">
            <a:solidFill>
              <a:srgbClr val="FF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08975" y="2276856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归因复盘与优化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6112" y="2743200"/>
            <a:ext cx="749808" cy="310896"/>
          </a:xfrm>
          <a:prstGeom prst="rect">
            <a:avLst/>
          </a:prstGeom>
          <a:solidFill>
            <a:srgbClr val="5099CD"/>
          </a:solidFill>
          <a:ln w="6350">
            <a:solidFill>
              <a:srgbClr val="509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" y="2743200"/>
            <a:ext cx="713231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智能域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55648" y="2743200"/>
            <a:ext cx="914400" cy="310896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73936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机会洞察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61488" y="2743200"/>
            <a:ext cx="914400" cy="310896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79776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客群洞察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67328" y="2743200"/>
            <a:ext cx="914400" cy="310896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85615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产品匹配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73168" y="2743200"/>
            <a:ext cx="914400" cy="310896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91456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活动编排 + 内容生成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79008" y="2743200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97296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风险检查（人工决策）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84848" y="2743200"/>
            <a:ext cx="914400" cy="310896"/>
          </a:xfrm>
          <a:prstGeom prst="rect">
            <a:avLst/>
          </a:prstGeom>
          <a:solidFill>
            <a:srgbClr val="F3F7FA"/>
          </a:solidFill>
          <a:ln w="8890">
            <a:solidFill>
              <a:srgbClr val="4F7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03136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274154"/>
                </a:solidFill>
                <a:latin typeface="Microsoft YaHei"/>
              </a:rPr>
              <a:t>实时监控（非智能体）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90688" y="2743200"/>
            <a:ext cx="914400" cy="310896"/>
          </a:xfrm>
          <a:prstGeom prst="rect">
            <a:avLst/>
          </a:prstGeom>
          <a:solidFill>
            <a:srgbClr val="F78933"/>
          </a:solidFill>
          <a:ln w="6350">
            <a:solidFill>
              <a:srgbClr val="F78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08975" y="2743200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效果分析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6112" y="3209544"/>
            <a:ext cx="749808" cy="310896"/>
          </a:xfrm>
          <a:prstGeom prst="rect">
            <a:avLst/>
          </a:prstGeom>
          <a:solidFill>
            <a:srgbClr val="5099CD"/>
          </a:solidFill>
          <a:ln w="6350">
            <a:solidFill>
              <a:srgbClr val="509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4400" y="3209544"/>
            <a:ext cx="713231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Microsoft YaHei"/>
              </a:rPr>
              <a:t>阶段产出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5564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773936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可经营机会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6148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79776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可触达客群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6732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5615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可执行产品包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7316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91456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可审批活动版本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00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97296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可发布执行批次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78484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03136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可追踪渠道结果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90688" y="3209544"/>
            <a:ext cx="914400" cy="310896"/>
          </a:xfrm>
          <a:prstGeom prst="rect">
            <a:avLst/>
          </a:prstGeom>
          <a:solidFill>
            <a:srgbClr val="42AE2F"/>
          </a:solidFill>
          <a:ln w="6350">
            <a:solidFill>
              <a:srgbClr val="42A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808975" y="3209544"/>
            <a:ext cx="877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Microsoft YaHei"/>
              </a:rPr>
              <a:t>下一轮机会与策略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4592" y="3977639"/>
            <a:ext cx="548640" cy="658368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4592" y="3977639"/>
            <a:ext cx="548640" cy="658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平台支撑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7240" y="3977639"/>
            <a:ext cx="8183879" cy="658368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60120" y="4114800"/>
            <a:ext cx="1600200" cy="2011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8408" y="4114800"/>
            <a:ext cx="156362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产品模块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0120" y="4325112"/>
            <a:ext cx="160020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637889"/>
                </a:solidFill>
                <a:latin typeface="Microsoft YaHei"/>
              </a:rPr>
              <a:t>产品创建 · 审批 · 服务 · 交付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697480" y="4114800"/>
            <a:ext cx="1600200" cy="2011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15768" y="4114800"/>
            <a:ext cx="156362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策略模块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97480" y="4325112"/>
            <a:ext cx="160020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637889"/>
                </a:solidFill>
                <a:latin typeface="Microsoft YaHei"/>
              </a:rPr>
              <a:t>画像分群 · 模板 · 用户保护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434840" y="4114800"/>
            <a:ext cx="1600200" cy="2011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453127" y="4114800"/>
            <a:ext cx="156362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活动模块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34840" y="4325112"/>
            <a:ext cx="160020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637889"/>
                </a:solidFill>
                <a:latin typeface="Microsoft YaHei"/>
              </a:rPr>
              <a:t>活动版本 · 审批 · 执行 · 监控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72200" y="4114800"/>
            <a:ext cx="1143000" cy="2011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90488" y="4114800"/>
            <a:ext cx="110642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知识与本体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72200" y="4325112"/>
            <a:ext cx="114300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637889"/>
                </a:solidFill>
                <a:latin typeface="Microsoft YaHei"/>
              </a:rPr>
              <a:t>统一对象关系与证据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452360" y="4114800"/>
            <a:ext cx="1280160" cy="201168"/>
          </a:xfrm>
          <a:prstGeom prst="rect">
            <a:avLst/>
          </a:prstGeom>
          <a:solidFill>
            <a:srgbClr val="1F6C89"/>
          </a:solidFill>
          <a:ln w="6350">
            <a:solidFill>
              <a:srgbClr val="1F6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470648" y="4114800"/>
            <a:ext cx="1243584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运营治理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52360" y="4325112"/>
            <a:ext cx="128016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20" b="1">
                <a:solidFill>
                  <a:srgbClr val="637889"/>
                </a:solidFill>
                <a:latin typeface="Microsoft YaHei"/>
              </a:rPr>
              <a:t>权限 · 审计 · 人工确认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" y="4718304"/>
            <a:ext cx="548640" cy="292608"/>
          </a:xfrm>
          <a:prstGeom prst="rect">
            <a:avLst/>
          </a:prstGeom>
          <a:solidFill>
            <a:srgbClr val="5099CD"/>
          </a:solidFill>
          <a:ln w="1270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4592" y="4718304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数据底座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7240" y="4718304"/>
            <a:ext cx="8183879" cy="292608"/>
          </a:xfrm>
          <a:prstGeom prst="rect">
            <a:avLst/>
          </a:prstGeom>
          <a:solidFill>
            <a:srgbClr val="F8FAFC"/>
          </a:solidFill>
          <a:ln w="13970">
            <a:solidFill>
              <a:srgbClr val="4F77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32688" y="4773168"/>
            <a:ext cx="1078992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50976" y="4773168"/>
            <a:ext cx="1042415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市场热点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121408" y="4773168"/>
            <a:ext cx="1078992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139696" y="4773168"/>
            <a:ext cx="1042415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用户画像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310128" y="4773168"/>
            <a:ext cx="1078992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28416" y="4773168"/>
            <a:ext cx="1042415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产品权益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98848" y="4773168"/>
            <a:ext cx="1078992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17136" y="4773168"/>
            <a:ext cx="1042415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航班运价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87568" y="4773168"/>
            <a:ext cx="1078992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05855" y="4773168"/>
            <a:ext cx="1042415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订单客票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76288" y="4773168"/>
            <a:ext cx="1874519" cy="146304"/>
          </a:xfrm>
          <a:prstGeom prst="rect">
            <a:avLst/>
          </a:prstGeom>
          <a:solidFill>
            <a:srgbClr val="193E5B"/>
          </a:solidFill>
          <a:ln w="6350">
            <a:solidFill>
              <a:srgbClr val="19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94575" y="4773168"/>
            <a:ext cx="1837943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30" b="1">
                <a:solidFill>
                  <a:srgbClr val="FFFFFF"/>
                </a:solidFill>
                <a:latin typeface="Microsoft YaHei"/>
              </a:rPr>
              <a:t>渠道回执 / 成本 / 收入</a:t>
            </a:r>
          </a:p>
        </p:txBody>
      </p:sp>
      <p:cxnSp>
        <p:nvCxnSpPr>
          <p:cNvPr id="153" name="Connector 152"/>
          <p:cNvCxnSpPr/>
          <p:nvPr/>
        </p:nvCxnSpPr>
        <p:spPr>
          <a:xfrm flipV="1">
            <a:off x="2286000" y="4626864"/>
            <a:ext cx="0" cy="9144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/>
          <p:cNvSpPr/>
          <p:nvPr/>
        </p:nvSpPr>
        <p:spPr>
          <a:xfrm>
            <a:off x="2240280" y="4590288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V="1">
            <a:off x="2286000" y="3877056"/>
            <a:ext cx="0" cy="100583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Isosceles Triangle 155"/>
          <p:cNvSpPr/>
          <p:nvPr/>
        </p:nvSpPr>
        <p:spPr>
          <a:xfrm>
            <a:off x="2240280" y="3840480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 flipV="1">
            <a:off x="4754880" y="4626864"/>
            <a:ext cx="0" cy="9144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Isosceles Triangle 157"/>
          <p:cNvSpPr/>
          <p:nvPr/>
        </p:nvSpPr>
        <p:spPr>
          <a:xfrm>
            <a:off x="4709160" y="4590288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4754880" y="3877056"/>
            <a:ext cx="0" cy="100583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Isosceles Triangle 159"/>
          <p:cNvSpPr/>
          <p:nvPr/>
        </p:nvSpPr>
        <p:spPr>
          <a:xfrm>
            <a:off x="4709160" y="3840480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 flipV="1">
            <a:off x="7178040" y="4626864"/>
            <a:ext cx="0" cy="91440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Isosceles Triangle 161"/>
          <p:cNvSpPr/>
          <p:nvPr/>
        </p:nvSpPr>
        <p:spPr>
          <a:xfrm>
            <a:off x="7132320" y="4590288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7178040" y="3877056"/>
            <a:ext cx="0" cy="100583"/>
          </a:xfrm>
          <a:prstGeom prst="line">
            <a:avLst/>
          </a:prstGeom>
          <a:ln w="12700">
            <a:solidFill>
              <a:srgbClr val="418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Isosceles Triangle 163"/>
          <p:cNvSpPr/>
          <p:nvPr/>
        </p:nvSpPr>
        <p:spPr>
          <a:xfrm>
            <a:off x="7132320" y="3840480"/>
            <a:ext cx="91440" cy="91440"/>
          </a:xfrm>
          <a:prstGeom prst="triangle">
            <a:avLst/>
          </a:prstGeom>
          <a:solidFill>
            <a:srgbClr val="41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