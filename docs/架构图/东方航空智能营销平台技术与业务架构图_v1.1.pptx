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45720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1677B8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82296"/>
            <a:ext cx="7955279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900" b="1">
                <a:solidFill>
                  <a:srgbClr val="163B5D"/>
                </a:solidFill>
                <a:latin typeface="Microsoft YaHei"/>
              </a:rPr>
              <a:t>技术架构：本体驱动的分层数据流与智能营销平台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420624"/>
            <a:ext cx="777240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800" b="0">
                <a:solidFill>
                  <a:srgbClr val="6A8294"/>
                </a:solidFill>
                <a:latin typeface="Microsoft YaHei"/>
              </a:rPr>
              <a:t>五层矩阵：数据进入处理治理，经知识与本体沉淀，由六个智能域调用并回写营销结果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713232"/>
            <a:ext cx="8503920" cy="0"/>
          </a:xfrm>
          <a:prstGeom prst="line">
            <a:avLst/>
          </a:prstGeom>
          <a:ln w="10160">
            <a:solidFill>
              <a:srgbClr val="B7C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" y="859536"/>
            <a:ext cx="822960" cy="621792"/>
          </a:xfrm>
          <a:prstGeom prst="roundRect">
            <a:avLst/>
          </a:prstGeom>
          <a:solidFill>
            <a:srgbClr val="163B5D"/>
          </a:solidFill>
          <a:ln w="6350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32688"/>
            <a:ext cx="73152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06424"/>
            <a:ext cx="73152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数据源层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98448"/>
            <a:ext cx="731520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0">
                <a:solidFill>
                  <a:srgbClr val="FFFFFF"/>
                </a:solidFill>
                <a:latin typeface="Microsoft YaHei"/>
              </a:rPr>
              <a:t>多源接入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572768"/>
            <a:ext cx="822960" cy="621792"/>
          </a:xfrm>
          <a:prstGeom prst="roundRect">
            <a:avLst/>
          </a:prstGeom>
          <a:solidFill>
            <a:srgbClr val="163B5D"/>
          </a:solidFill>
          <a:ln w="6350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45920"/>
            <a:ext cx="73152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19656"/>
            <a:ext cx="73152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处理治理层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731520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0">
                <a:solidFill>
                  <a:srgbClr val="FFFFFF"/>
                </a:solidFill>
                <a:latin typeface="Microsoft YaHei"/>
              </a:rPr>
              <a:t>清洗与准入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286000"/>
            <a:ext cx="822960" cy="621792"/>
          </a:xfrm>
          <a:prstGeom prst="roundRect">
            <a:avLst/>
          </a:prstGeom>
          <a:solidFill>
            <a:srgbClr val="163B5D"/>
          </a:solidFill>
          <a:ln w="6350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59152"/>
            <a:ext cx="73152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L3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532888"/>
            <a:ext cx="73152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知识本体层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24912"/>
            <a:ext cx="731520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0">
                <a:solidFill>
                  <a:srgbClr val="FFFFFF"/>
                </a:solidFill>
                <a:latin typeface="Microsoft YaHei"/>
              </a:rPr>
              <a:t>统一语义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090672"/>
            <a:ext cx="822960" cy="621792"/>
          </a:xfrm>
          <a:prstGeom prst="roundRect">
            <a:avLst/>
          </a:prstGeom>
          <a:solidFill>
            <a:srgbClr val="163B5D"/>
          </a:solidFill>
          <a:ln w="6350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163824"/>
            <a:ext cx="73152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337560"/>
            <a:ext cx="73152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智能域层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529584"/>
            <a:ext cx="731520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0">
                <a:solidFill>
                  <a:srgbClr val="FFFFFF"/>
                </a:solidFill>
                <a:latin typeface="Microsoft YaHei"/>
              </a:rPr>
              <a:t>AI 推理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913632"/>
            <a:ext cx="822960" cy="621792"/>
          </a:xfrm>
          <a:prstGeom prst="roundRect">
            <a:avLst/>
          </a:prstGeom>
          <a:solidFill>
            <a:srgbClr val="163B5D"/>
          </a:solidFill>
          <a:ln w="6350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986784"/>
            <a:ext cx="73152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L5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160520"/>
            <a:ext cx="73152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应用渠道层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352544"/>
            <a:ext cx="731520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0">
                <a:solidFill>
                  <a:srgbClr val="FFFFFF"/>
                </a:solidFill>
                <a:latin typeface="Microsoft YaHei"/>
              </a:rPr>
              <a:t>业务落地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859536"/>
            <a:ext cx="1298448" cy="566928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6736" y="914400"/>
            <a:ext cx="1225295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80" b="1">
                <a:solidFill>
                  <a:srgbClr val="163B5D"/>
                </a:solidFill>
                <a:latin typeface="Microsoft YaHei"/>
              </a:rPr>
              <a:t>用户画像数据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1115568"/>
            <a:ext cx="1225295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画像、标签、客群基础数据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61488" y="859536"/>
            <a:ext cx="1298448" cy="566928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98064" y="914400"/>
            <a:ext cx="1225295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80" b="1">
                <a:solidFill>
                  <a:srgbClr val="163B5D"/>
                </a:solidFill>
                <a:latin typeface="Microsoft YaHei"/>
              </a:rPr>
              <a:t>航班经营数据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98064" y="1115568"/>
            <a:ext cx="1225295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航线、航班、客座率、库存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42816" y="859536"/>
            <a:ext cx="1298448" cy="566928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9392" y="914400"/>
            <a:ext cx="1225295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80" b="1">
                <a:solidFill>
                  <a:srgbClr val="163B5D"/>
                </a:solidFill>
                <a:latin typeface="Microsoft YaHei"/>
              </a:rPr>
              <a:t>产品管理平台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1115568"/>
            <a:ext cx="1225295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机票、运价、卡券、辅营、权益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24144" y="859536"/>
            <a:ext cx="1298448" cy="566928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914400"/>
            <a:ext cx="1225295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80" b="1">
                <a:solidFill>
                  <a:srgbClr val="163B5D"/>
                </a:solidFill>
                <a:latin typeface="Microsoft YaHei"/>
              </a:rPr>
              <a:t>市场热点数据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1115568"/>
            <a:ext cx="1225295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舆情、节假日、目的地热度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5472" y="859536"/>
            <a:ext cx="1298448" cy="566928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42048" y="914400"/>
            <a:ext cx="1225295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80" b="1">
                <a:solidFill>
                  <a:srgbClr val="163B5D"/>
                </a:solidFill>
                <a:latin typeface="Microsoft YaHei"/>
              </a:rPr>
              <a:t>营销结果数据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2048" y="1115568"/>
            <a:ext cx="1225295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触达、点击、出票、收入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80160" y="1572768"/>
            <a:ext cx="1901952" cy="566928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16736" y="1627632"/>
            <a:ext cx="182880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70" b="1">
                <a:solidFill>
                  <a:srgbClr val="163B5D"/>
                </a:solidFill>
                <a:latin typeface="Microsoft YaHei"/>
              </a:rPr>
              <a:t>接入与标准化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16736" y="1828800"/>
            <a:ext cx="182880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文件 / 接口 / 数据库 · 统一编码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28416" y="1572768"/>
            <a:ext cx="1463040" cy="566928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64992" y="1627632"/>
            <a:ext cx="1389888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70" b="1">
                <a:solidFill>
                  <a:srgbClr val="163B5D"/>
                </a:solidFill>
                <a:latin typeface="Microsoft YaHei"/>
              </a:rPr>
              <a:t>数据处理智能体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4992" y="1828800"/>
            <a:ext cx="1389888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清洗 · 抽取 · 分类 · 关系识别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19472" y="1572768"/>
            <a:ext cx="1463040" cy="566928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6048" y="1627632"/>
            <a:ext cx="1389888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70" b="1">
                <a:solidFill>
                  <a:srgbClr val="163B5D"/>
                </a:solidFill>
                <a:latin typeface="Microsoft YaHei"/>
              </a:rPr>
              <a:t>质量与准入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6048" y="1828800"/>
            <a:ext cx="1389888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来源 · 置信度 · 完整性 · 去重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10528" y="1572768"/>
            <a:ext cx="1993392" cy="566928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47104" y="1627632"/>
            <a:ext cx="192024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70" b="1">
                <a:solidFill>
                  <a:srgbClr val="163B5D"/>
                </a:solidFill>
                <a:latin typeface="Microsoft YaHei"/>
              </a:rPr>
              <a:t>权限、审计与人工确认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47104" y="1828800"/>
            <a:ext cx="192024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脱敏 · 授权 · 本体更新确认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80160" y="2286000"/>
            <a:ext cx="7315200" cy="658368"/>
          </a:xfrm>
          <a:prstGeom prst="roundRect">
            <a:avLst/>
          </a:prstGeom>
          <a:solidFill>
            <a:srgbClr val="DCF2FA"/>
          </a:solidFill>
          <a:ln w="1714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89888" y="2395728"/>
            <a:ext cx="109728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63B5D"/>
                </a:solidFill>
                <a:latin typeface="Microsoft YaHei"/>
              </a:rPr>
              <a:t>知识与本体底座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578608" y="2368296"/>
            <a:ext cx="1325880" cy="49377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15184" y="2423160"/>
            <a:ext cx="1252728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50" b="1">
                <a:solidFill>
                  <a:srgbClr val="163B5D"/>
                </a:solidFill>
                <a:latin typeface="Microsoft YaHei"/>
              </a:rPr>
              <a:t>知识层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15184" y="2624328"/>
            <a:ext cx="1252728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文档、规则、证据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41648" y="2368296"/>
            <a:ext cx="1481328" cy="49377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78224" y="2423160"/>
            <a:ext cx="1408176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50" b="1">
                <a:solidFill>
                  <a:srgbClr val="163B5D"/>
                </a:solidFill>
                <a:latin typeface="Microsoft YaHei"/>
              </a:rPr>
              <a:t>本体对象层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78224" y="2624328"/>
            <a:ext cx="1408176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机会、画像、客群包、产品包、活动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0136" y="2368296"/>
            <a:ext cx="1481328" cy="49377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96712" y="2423160"/>
            <a:ext cx="1408176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50" b="1">
                <a:solidFill>
                  <a:srgbClr val="163B5D"/>
                </a:solidFill>
                <a:latin typeface="Microsoft YaHei"/>
              </a:rPr>
              <a:t>关系规则层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6712" y="2624328"/>
            <a:ext cx="1408176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来源、适用、匹配、引用、审批、回写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78624" y="2368296"/>
            <a:ext cx="1170432" cy="49377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0" y="2423160"/>
            <a:ext cx="109728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50" b="1">
                <a:solidFill>
                  <a:srgbClr val="163B5D"/>
                </a:solidFill>
                <a:latin typeface="Microsoft YaHei"/>
              </a:rPr>
              <a:t>版本溯源层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2624328"/>
            <a:ext cx="1097280" cy="20116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时间、版本、置信度、处理记录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280160" y="3090672"/>
            <a:ext cx="1097280" cy="621792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16736" y="3145536"/>
            <a:ext cx="1024127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50" b="1">
                <a:solidFill>
                  <a:srgbClr val="163B5D"/>
                </a:solidFill>
                <a:latin typeface="Microsoft YaHei"/>
              </a:rPr>
              <a:t>机会洞察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16736" y="3346704"/>
            <a:ext cx="1024127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市场信号 → 机会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505456" y="3090672"/>
            <a:ext cx="1097280" cy="621792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42032" y="3145536"/>
            <a:ext cx="1024127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50" b="1">
                <a:solidFill>
                  <a:srgbClr val="163B5D"/>
                </a:solidFill>
                <a:latin typeface="Microsoft YaHei"/>
              </a:rPr>
              <a:t>客群洞察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42032" y="3346704"/>
            <a:ext cx="1024127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画像 → 客群包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730752" y="3090672"/>
            <a:ext cx="1097280" cy="621792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67328" y="3145536"/>
            <a:ext cx="1024127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50" b="1">
                <a:solidFill>
                  <a:srgbClr val="163B5D"/>
                </a:solidFill>
                <a:latin typeface="Microsoft YaHei"/>
              </a:rPr>
              <a:t>产品匹配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67328" y="3346704"/>
            <a:ext cx="1024127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需求 → 产品包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56048" y="3090672"/>
            <a:ext cx="1097280" cy="621792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92624" y="3145536"/>
            <a:ext cx="1024127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50" b="1">
                <a:solidFill>
                  <a:srgbClr val="163B5D"/>
                </a:solidFill>
                <a:latin typeface="Microsoft YaHei"/>
              </a:rPr>
              <a:t>活动编排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92624" y="3346704"/>
            <a:ext cx="1024127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条件 → 活动版本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81344" y="3090672"/>
            <a:ext cx="1097280" cy="621792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20" y="3145536"/>
            <a:ext cx="1024127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50" b="1">
                <a:solidFill>
                  <a:srgbClr val="163B5D"/>
                </a:solidFill>
                <a:latin typeface="Microsoft YaHei"/>
              </a:rPr>
              <a:t>内容生成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17920" y="3346704"/>
            <a:ext cx="1024127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产品事实 → 内容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406640" y="3090672"/>
            <a:ext cx="1097280" cy="621792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43215" y="3145536"/>
            <a:ext cx="1024127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50" b="1">
                <a:solidFill>
                  <a:srgbClr val="163B5D"/>
                </a:solidFill>
                <a:latin typeface="Microsoft YaHei"/>
              </a:rPr>
              <a:t>效果分析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43215" y="3346704"/>
            <a:ext cx="1024127" cy="32918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结果 → 策略学习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280160" y="3913632"/>
            <a:ext cx="1993392" cy="566928"/>
          </a:xfrm>
          <a:prstGeom prst="roundRect">
            <a:avLst/>
          </a:prstGeom>
          <a:solidFill>
            <a:srgbClr val="163B5D"/>
          </a:solidFill>
          <a:ln w="10795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16736" y="3968496"/>
            <a:ext cx="192024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00" b="1">
                <a:solidFill>
                  <a:srgbClr val="163B5D"/>
                </a:solidFill>
                <a:latin typeface="Microsoft YaHei"/>
              </a:rPr>
              <a:t>营销业务工作台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16736" y="4169664"/>
            <a:ext cx="192024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机会、客群、产品、内容、审批、执行、复盘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419856" y="3913632"/>
            <a:ext cx="1389888" cy="566928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56432" y="3968496"/>
            <a:ext cx="1316736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50" b="1">
                <a:solidFill>
                  <a:srgbClr val="163B5D"/>
                </a:solidFill>
                <a:latin typeface="Microsoft YaHei"/>
              </a:rPr>
              <a:t>官方触点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56432" y="4169664"/>
            <a:ext cx="1316736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东航 App、短信、微信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974336" y="3913632"/>
            <a:ext cx="1389888" cy="566928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10912" y="3968496"/>
            <a:ext cx="1316736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50" b="1">
                <a:solidFill>
                  <a:srgbClr val="163B5D"/>
                </a:solidFill>
                <a:latin typeface="Microsoft YaHei"/>
              </a:rPr>
              <a:t>合作渠道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10912" y="4169664"/>
            <a:ext cx="1316736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OTA、NDC、企业差旅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528816" y="3913632"/>
            <a:ext cx="2066543" cy="566928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65392" y="3968496"/>
            <a:ext cx="1993391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50" b="1">
                <a:solidFill>
                  <a:srgbClr val="163B5D"/>
                </a:solidFill>
                <a:latin typeface="Microsoft YaHei"/>
              </a:rPr>
              <a:t>运营与治理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65392" y="4169664"/>
            <a:ext cx="1993391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60" b="0">
                <a:solidFill>
                  <a:srgbClr val="6A8294"/>
                </a:solidFill>
                <a:latin typeface="Microsoft YaHei"/>
              </a:rPr>
              <a:t>权限、审计、知识中心、智能助手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2240280" y="1435608"/>
            <a:ext cx="0" cy="137160"/>
          </a:xfrm>
          <a:prstGeom prst="line">
            <a:avLst/>
          </a:prstGeom>
          <a:ln w="12065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Isosceles Triangle 97"/>
          <p:cNvSpPr/>
          <p:nvPr/>
        </p:nvSpPr>
        <p:spPr>
          <a:xfrm rot="10800000">
            <a:off x="2185416" y="1527048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2240280" y="2148840"/>
            <a:ext cx="0" cy="137160"/>
          </a:xfrm>
          <a:prstGeom prst="line">
            <a:avLst/>
          </a:prstGeom>
          <a:ln w="12065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 rot="10800000">
            <a:off x="2185416" y="224028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2240280" y="2944368"/>
            <a:ext cx="0" cy="146304"/>
          </a:xfrm>
          <a:prstGeom prst="line">
            <a:avLst/>
          </a:prstGeom>
          <a:ln w="12065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Isosceles Triangle 101"/>
          <p:cNvSpPr/>
          <p:nvPr/>
        </p:nvSpPr>
        <p:spPr>
          <a:xfrm rot="10800000">
            <a:off x="2185416" y="304495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2240280" y="3712463"/>
            <a:ext cx="0" cy="201169"/>
          </a:xfrm>
          <a:prstGeom prst="line">
            <a:avLst/>
          </a:prstGeom>
          <a:ln w="12065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Isosceles Triangle 103"/>
          <p:cNvSpPr/>
          <p:nvPr/>
        </p:nvSpPr>
        <p:spPr>
          <a:xfrm rot="10800000">
            <a:off x="2185416" y="386791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4572000" y="1435608"/>
            <a:ext cx="0" cy="137160"/>
          </a:xfrm>
          <a:prstGeom prst="line">
            <a:avLst/>
          </a:prstGeom>
          <a:ln w="12065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Isosceles Triangle 105"/>
          <p:cNvSpPr/>
          <p:nvPr/>
        </p:nvSpPr>
        <p:spPr>
          <a:xfrm rot="10800000">
            <a:off x="4517136" y="1527048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4572000" y="2148840"/>
            <a:ext cx="0" cy="137160"/>
          </a:xfrm>
          <a:prstGeom prst="line">
            <a:avLst/>
          </a:prstGeom>
          <a:ln w="12065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Isosceles Triangle 107"/>
          <p:cNvSpPr/>
          <p:nvPr/>
        </p:nvSpPr>
        <p:spPr>
          <a:xfrm rot="10800000">
            <a:off x="4517136" y="224028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4572000" y="2944368"/>
            <a:ext cx="0" cy="146304"/>
          </a:xfrm>
          <a:prstGeom prst="line">
            <a:avLst/>
          </a:prstGeom>
          <a:ln w="12065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Isosceles Triangle 109"/>
          <p:cNvSpPr/>
          <p:nvPr/>
        </p:nvSpPr>
        <p:spPr>
          <a:xfrm rot="10800000">
            <a:off x="4517136" y="304495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4572000" y="3712463"/>
            <a:ext cx="0" cy="201169"/>
          </a:xfrm>
          <a:prstGeom prst="line">
            <a:avLst/>
          </a:prstGeom>
          <a:ln w="12065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Isosceles Triangle 111"/>
          <p:cNvSpPr/>
          <p:nvPr/>
        </p:nvSpPr>
        <p:spPr>
          <a:xfrm rot="10800000">
            <a:off x="4517136" y="386791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7059168" y="1435608"/>
            <a:ext cx="0" cy="137160"/>
          </a:xfrm>
          <a:prstGeom prst="line">
            <a:avLst/>
          </a:prstGeom>
          <a:ln w="12065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Isosceles Triangle 113"/>
          <p:cNvSpPr/>
          <p:nvPr/>
        </p:nvSpPr>
        <p:spPr>
          <a:xfrm rot="10800000">
            <a:off x="7004304" y="1527048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7059168" y="2148840"/>
            <a:ext cx="0" cy="137160"/>
          </a:xfrm>
          <a:prstGeom prst="line">
            <a:avLst/>
          </a:prstGeom>
          <a:ln w="12065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Isosceles Triangle 115"/>
          <p:cNvSpPr/>
          <p:nvPr/>
        </p:nvSpPr>
        <p:spPr>
          <a:xfrm rot="10800000">
            <a:off x="7004304" y="224028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7059168" y="2944368"/>
            <a:ext cx="0" cy="146304"/>
          </a:xfrm>
          <a:prstGeom prst="line">
            <a:avLst/>
          </a:prstGeom>
          <a:ln w="12065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Isosceles Triangle 117"/>
          <p:cNvSpPr/>
          <p:nvPr/>
        </p:nvSpPr>
        <p:spPr>
          <a:xfrm rot="10800000">
            <a:off x="7004304" y="304495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7059168" y="3712463"/>
            <a:ext cx="0" cy="201169"/>
          </a:xfrm>
          <a:prstGeom prst="line">
            <a:avLst/>
          </a:prstGeom>
          <a:ln w="12065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/>
          <p:cNvSpPr/>
          <p:nvPr/>
        </p:nvSpPr>
        <p:spPr>
          <a:xfrm rot="10800000">
            <a:off x="7004304" y="3867912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7936992" y="4480560"/>
            <a:ext cx="640080" cy="0"/>
          </a:xfrm>
          <a:prstGeom prst="line">
            <a:avLst/>
          </a:prstGeom>
          <a:ln w="13970">
            <a:solidFill>
              <a:srgbClr val="348E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8577072" y="2615184"/>
            <a:ext cx="0" cy="1865376"/>
          </a:xfrm>
          <a:prstGeom prst="line">
            <a:avLst/>
          </a:prstGeom>
          <a:ln w="13970">
            <a:solidFill>
              <a:srgbClr val="348E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7818120" y="2615184"/>
            <a:ext cx="758952" cy="0"/>
          </a:xfrm>
          <a:prstGeom prst="line">
            <a:avLst/>
          </a:prstGeom>
          <a:ln w="13970">
            <a:solidFill>
              <a:srgbClr val="348E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Isosceles Triangle 123"/>
          <p:cNvSpPr/>
          <p:nvPr/>
        </p:nvSpPr>
        <p:spPr>
          <a:xfrm rot="16200000">
            <a:off x="7744968" y="2560320"/>
            <a:ext cx="109728" cy="109728"/>
          </a:xfrm>
          <a:prstGeom prst="triangle">
            <a:avLst/>
          </a:prstGeom>
          <a:solidFill>
            <a:srgbClr val="348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863840" y="4553712"/>
            <a:ext cx="713232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40" b="1">
                <a:solidFill>
                  <a:srgbClr val="348E65"/>
                </a:solidFill>
                <a:latin typeface="Microsoft YaHei"/>
              </a:rPr>
              <a:t>营销结果回写本体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457200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1677B8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82296"/>
            <a:ext cx="7955279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900" b="1">
                <a:solidFill>
                  <a:srgbClr val="163B5D"/>
                </a:solidFill>
                <a:latin typeface="Microsoft YaHei"/>
              </a:rPr>
              <a:t>业务架构：从机会发现到结果学习的营销闭环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420624"/>
            <a:ext cx="777240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800" b="0">
                <a:solidFill>
                  <a:srgbClr val="6A8294"/>
                </a:solidFill>
                <a:latin typeface="Microsoft YaHei"/>
              </a:rPr>
              <a:t>以营销活动为主线，按业务阶段、业务对象、岗位动作和 AI 赋能形成可执行的流程矩阵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713232"/>
            <a:ext cx="8503920" cy="0"/>
          </a:xfrm>
          <a:prstGeom prst="line">
            <a:avLst/>
          </a:prstGeom>
          <a:ln w="10160">
            <a:solidFill>
              <a:srgbClr val="B7C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841248"/>
            <a:ext cx="82296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业务阶段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841248"/>
            <a:ext cx="822960" cy="274320"/>
          </a:xfrm>
          <a:prstGeom prst="roundRect">
            <a:avLst/>
          </a:prstGeom>
          <a:solidFill>
            <a:srgbClr val="163B5D"/>
          </a:solidFill>
          <a:ln w="6350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841248"/>
            <a:ext cx="1033271" cy="274320"/>
          </a:xfrm>
          <a:prstGeom prst="roundRect">
            <a:avLst/>
          </a:prstGeom>
          <a:solidFill>
            <a:srgbClr val="1677B8"/>
          </a:solidFill>
          <a:ln w="1016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868680"/>
            <a:ext cx="1033271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987552"/>
            <a:ext cx="1033271" cy="914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Microsoft YaHei"/>
              </a:rPr>
              <a:t>机会发现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86584" y="841248"/>
            <a:ext cx="1033271" cy="274320"/>
          </a:xfrm>
          <a:prstGeom prst="roundRect">
            <a:avLst/>
          </a:prstGeom>
          <a:solidFill>
            <a:srgbClr val="E9F4FB"/>
          </a:solidFill>
          <a:ln w="1016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6584" y="868680"/>
            <a:ext cx="1033271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1677B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987552"/>
            <a:ext cx="1033271" cy="914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1">
                <a:solidFill>
                  <a:srgbClr val="163B5D"/>
                </a:solidFill>
                <a:latin typeface="Microsoft YaHei"/>
              </a:rPr>
              <a:t>客群识别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841248"/>
            <a:ext cx="1033271" cy="274320"/>
          </a:xfrm>
          <a:prstGeom prst="roundRect">
            <a:avLst/>
          </a:prstGeom>
          <a:solidFill>
            <a:srgbClr val="E9F4FB"/>
          </a:solidFill>
          <a:ln w="1016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868680"/>
            <a:ext cx="1033271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1677B8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987552"/>
            <a:ext cx="1033271" cy="914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1">
                <a:solidFill>
                  <a:srgbClr val="163B5D"/>
                </a:solidFill>
                <a:latin typeface="Microsoft YaHei"/>
              </a:rPr>
              <a:t>产品匹配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9431" y="841248"/>
            <a:ext cx="1033271" cy="274320"/>
          </a:xfrm>
          <a:prstGeom prst="roundRect">
            <a:avLst/>
          </a:prstGeom>
          <a:solidFill>
            <a:srgbClr val="E9F4FB"/>
          </a:solidFill>
          <a:ln w="1016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868680"/>
            <a:ext cx="1033271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1677B8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987552"/>
            <a:ext cx="1033271" cy="914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1">
                <a:solidFill>
                  <a:srgbClr val="163B5D"/>
                </a:solidFill>
                <a:latin typeface="Microsoft YaHei"/>
              </a:rPr>
              <a:t>内容生产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05856" y="841248"/>
            <a:ext cx="1033271" cy="274320"/>
          </a:xfrm>
          <a:prstGeom prst="roundRect">
            <a:avLst/>
          </a:prstGeom>
          <a:solidFill>
            <a:srgbClr val="E9F4FB"/>
          </a:solidFill>
          <a:ln w="1016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5856" y="868680"/>
            <a:ext cx="1033271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1677B8"/>
                </a:solidFill>
                <a:latin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5856" y="987552"/>
            <a:ext cx="1033271" cy="914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1">
                <a:solidFill>
                  <a:srgbClr val="163B5D"/>
                </a:solidFill>
                <a:latin typeface="Microsoft YaHei"/>
              </a:rPr>
              <a:t>审批执行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79" y="841248"/>
            <a:ext cx="1033271" cy="274320"/>
          </a:xfrm>
          <a:prstGeom prst="roundRect">
            <a:avLst/>
          </a:prstGeom>
          <a:solidFill>
            <a:srgbClr val="E9F4FB"/>
          </a:solidFill>
          <a:ln w="1016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79" y="868680"/>
            <a:ext cx="1033271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1677B8"/>
                </a:solidFill>
                <a:latin typeface="Microsoft YaHe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987552"/>
            <a:ext cx="1033271" cy="914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1">
                <a:solidFill>
                  <a:srgbClr val="163B5D"/>
                </a:solidFill>
                <a:latin typeface="Microsoft YaHei"/>
              </a:rPr>
              <a:t>触达监控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18704" y="841248"/>
            <a:ext cx="1033271" cy="274320"/>
          </a:xfrm>
          <a:prstGeom prst="roundRect">
            <a:avLst/>
          </a:prstGeom>
          <a:solidFill>
            <a:srgbClr val="1677B8"/>
          </a:solidFill>
          <a:ln w="10160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8704" y="868680"/>
            <a:ext cx="1033271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18704" y="987552"/>
            <a:ext cx="1033271" cy="914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Microsoft YaHei"/>
              </a:rPr>
              <a:t>复盘学习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1207008"/>
            <a:ext cx="822960" cy="621792"/>
          </a:xfrm>
          <a:prstGeom prst="roundRect">
            <a:avLst/>
          </a:prstGeom>
          <a:solidFill>
            <a:srgbClr val="163B5D"/>
          </a:solidFill>
          <a:ln w="6350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1280160"/>
            <a:ext cx="73152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R1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1453896"/>
            <a:ext cx="73152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业务输入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1645920"/>
            <a:ext cx="731520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0">
                <a:solidFill>
                  <a:srgbClr val="FFFFFF"/>
                </a:solidFill>
                <a:latin typeface="Microsoft YaHei"/>
              </a:rPr>
              <a:t>阶段矩阵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1865376"/>
            <a:ext cx="822960" cy="621792"/>
          </a:xfrm>
          <a:prstGeom prst="roundRect">
            <a:avLst/>
          </a:prstGeom>
          <a:solidFill>
            <a:srgbClr val="163B5D"/>
          </a:solidFill>
          <a:ln w="6350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1938528"/>
            <a:ext cx="73152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R2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2112264"/>
            <a:ext cx="73152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核心对象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2304288"/>
            <a:ext cx="731520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0">
                <a:solidFill>
                  <a:srgbClr val="FFFFFF"/>
                </a:solidFill>
                <a:latin typeface="Microsoft YaHei"/>
              </a:rPr>
              <a:t>阶段矩阵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" y="2523744"/>
            <a:ext cx="822960" cy="621792"/>
          </a:xfrm>
          <a:prstGeom prst="roundRect">
            <a:avLst/>
          </a:prstGeom>
          <a:solidFill>
            <a:srgbClr val="163B5D"/>
          </a:solidFill>
          <a:ln w="6350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596896"/>
            <a:ext cx="73152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R3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2770632"/>
            <a:ext cx="73152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岗位动作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2962656"/>
            <a:ext cx="731520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0">
                <a:solidFill>
                  <a:srgbClr val="FFFFFF"/>
                </a:solidFill>
                <a:latin typeface="Microsoft YaHei"/>
              </a:rPr>
              <a:t>阶段矩阵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3182112"/>
            <a:ext cx="822960" cy="621792"/>
          </a:xfrm>
          <a:prstGeom prst="roundRect">
            <a:avLst/>
          </a:prstGeom>
          <a:solidFill>
            <a:srgbClr val="163B5D"/>
          </a:solidFill>
          <a:ln w="6350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255264"/>
            <a:ext cx="73152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R4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3429000"/>
            <a:ext cx="73152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AI 赋能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3621024"/>
            <a:ext cx="731520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0">
                <a:solidFill>
                  <a:srgbClr val="FFFFFF"/>
                </a:solidFill>
                <a:latin typeface="Microsoft YaHei"/>
              </a:rPr>
              <a:t>阶段矩阵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" y="3840480"/>
            <a:ext cx="822960" cy="621792"/>
          </a:xfrm>
          <a:prstGeom prst="roundRect">
            <a:avLst/>
          </a:prstGeom>
          <a:solidFill>
            <a:srgbClr val="163B5D"/>
          </a:solidFill>
          <a:ln w="6350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913632"/>
            <a:ext cx="73152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R5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4087368"/>
            <a:ext cx="731520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闭环产出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279392"/>
            <a:ext cx="731520" cy="1097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509" b="0">
                <a:solidFill>
                  <a:srgbClr val="FFFFFF"/>
                </a:solidFill>
                <a:latin typeface="Microsoft YaHei"/>
              </a:rPr>
              <a:t>阶段矩阵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80160" y="1207008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16736" y="1261872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热点
航线经营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386584" y="1207008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23160" y="1261872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画像
行为信号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93008" y="1207008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29584" y="1261872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资格
库存价格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99431" y="1207008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36007" y="1261872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活动目标
渠道约束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05856" y="1207008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42432" y="1261872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预算
合规要求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12279" y="1207008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48855" y="1261872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发送回执
状态数据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918704" y="1207008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79" y="1261872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转化收入
失败原因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80160" y="1865376"/>
            <a:ext cx="1033271" cy="548640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16736" y="1920240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市场机会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386584" y="1865376"/>
            <a:ext cx="1033271" cy="548640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23160" y="1920240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客群包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493008" y="1865376"/>
            <a:ext cx="1033271" cy="548640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29584" y="1920240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产品包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99431" y="1865376"/>
            <a:ext cx="1033271" cy="548640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36007" y="1920240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活动版本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705856" y="1865376"/>
            <a:ext cx="1033271" cy="548640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42432" y="1920240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审批任务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12279" y="1865376"/>
            <a:ext cx="1033271" cy="548640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48855" y="1920240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渠道任务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18704" y="1865376"/>
            <a:ext cx="1033271" cy="548640"/>
          </a:xfrm>
          <a:prstGeom prst="roundRect">
            <a:avLst/>
          </a:prstGeom>
          <a:solidFill>
            <a:srgbClr val="E9F4FB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955279" y="1920240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营销结果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280160" y="2523744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16736" y="2578608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确认窗口
创建机会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386584" y="2523744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423160" y="2578608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组合画像
冻结快照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493008" y="2523744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29584" y="2578608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选择产品
校验可售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99431" y="2523744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36007" y="2578608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生成内容
形成版本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705856" y="2523744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42432" y="2578608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人工审批
发布批次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812279" y="2523744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48855" y="2578608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分发触达
监控回传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918704" y="2523744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955279" y="2578608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归因复盘
调整策略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280160" y="3182112"/>
            <a:ext cx="1033271" cy="548640"/>
          </a:xfrm>
          <a:prstGeom prst="roundRect">
            <a:avLst/>
          </a:prstGeom>
          <a:solidFill>
            <a:srgbClr val="DCF2FA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316736" y="3236976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163B5D"/>
                </a:solidFill>
                <a:latin typeface="Microsoft YaHei"/>
              </a:rPr>
              <a:t>异常识别
证据关联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386584" y="3182112"/>
            <a:ext cx="1033271" cy="548640"/>
          </a:xfrm>
          <a:prstGeom prst="roundRect">
            <a:avLst/>
          </a:prstGeom>
          <a:solidFill>
            <a:srgbClr val="DCF2FA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423160" y="3236976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163B5D"/>
                </a:solidFill>
                <a:latin typeface="Microsoft YaHei"/>
              </a:rPr>
              <a:t>关系扩展
规模预估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493008" y="3182112"/>
            <a:ext cx="1033271" cy="548640"/>
          </a:xfrm>
          <a:prstGeom prst="roundRect">
            <a:avLst/>
          </a:prstGeom>
          <a:solidFill>
            <a:srgbClr val="DCF2FA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529584" y="3236976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163B5D"/>
                </a:solidFill>
                <a:latin typeface="Microsoft YaHei"/>
              </a:rPr>
              <a:t>条件推理
适配排序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599431" y="3182112"/>
            <a:ext cx="1033271" cy="548640"/>
          </a:xfrm>
          <a:prstGeom prst="roundRect">
            <a:avLst/>
          </a:prstGeom>
          <a:solidFill>
            <a:srgbClr val="DCF2FA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636007" y="3236976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163B5D"/>
                </a:solidFill>
                <a:latin typeface="Microsoft YaHei"/>
              </a:rPr>
              <a:t>事实校验
版本生成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705856" y="3182112"/>
            <a:ext cx="1033271" cy="548640"/>
          </a:xfrm>
          <a:prstGeom prst="roundRect">
            <a:avLst/>
          </a:prstGeom>
          <a:solidFill>
            <a:srgbClr val="DCF2FA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742432" y="3236976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163B5D"/>
                </a:solidFill>
                <a:latin typeface="Microsoft YaHei"/>
              </a:rPr>
              <a:t>风险提示
不替代决策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812279" y="3182112"/>
            <a:ext cx="1033271" cy="548640"/>
          </a:xfrm>
          <a:prstGeom prst="roundRect">
            <a:avLst/>
          </a:prstGeom>
          <a:solidFill>
            <a:srgbClr val="DCF2FA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848855" y="3236976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163B5D"/>
                </a:solidFill>
                <a:latin typeface="Microsoft YaHei"/>
              </a:rPr>
              <a:t>异常预警
失败归因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918704" y="3182112"/>
            <a:ext cx="1033271" cy="548640"/>
          </a:xfrm>
          <a:prstGeom prst="roundRect">
            <a:avLst/>
          </a:prstGeom>
          <a:solidFill>
            <a:srgbClr val="DCF2FA"/>
          </a:solidFill>
          <a:ln w="10795">
            <a:solidFill>
              <a:srgbClr val="167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955279" y="3236976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163B5D"/>
                </a:solidFill>
                <a:latin typeface="Microsoft YaHei"/>
              </a:rPr>
              <a:t>规律挖掘
策略建议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280160" y="3840480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316736" y="3895344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可经营机会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386584" y="3840480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423160" y="3895344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可触达客群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493008" y="3840480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29584" y="3895344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可执行产品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599431" y="3840480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36007" y="3895344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可审批活动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705856" y="3840480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742432" y="3895344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可发布批次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812279" y="3840480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48855" y="3895344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可追踪结果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918704" y="3840480"/>
            <a:ext cx="1033271" cy="548640"/>
          </a:xfrm>
          <a:prstGeom prst="roundRect">
            <a:avLst/>
          </a:prstGeom>
          <a:solidFill>
            <a:srgbClr val="F7FAFD"/>
          </a:solidFill>
          <a:ln w="10795">
            <a:solidFill>
              <a:srgbClr val="B7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955279" y="3895344"/>
            <a:ext cx="960119" cy="16459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30" b="1">
                <a:solidFill>
                  <a:srgbClr val="163B5D"/>
                </a:solidFill>
                <a:latin typeface="Microsoft YaHei"/>
              </a:rPr>
              <a:t>下一轮策略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2313432" y="2798064"/>
            <a:ext cx="73152" cy="0"/>
          </a:xfrm>
          <a:prstGeom prst="line">
            <a:avLst/>
          </a:prstGeom>
          <a:ln w="1397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/>
          <p:cNvSpPr/>
          <p:nvPr/>
        </p:nvSpPr>
        <p:spPr>
          <a:xfrm rot="5400000">
            <a:off x="2350008" y="274320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3419856" y="2798064"/>
            <a:ext cx="73152" cy="0"/>
          </a:xfrm>
          <a:prstGeom prst="line">
            <a:avLst/>
          </a:prstGeom>
          <a:ln w="1397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Isosceles Triangle 121"/>
          <p:cNvSpPr/>
          <p:nvPr/>
        </p:nvSpPr>
        <p:spPr>
          <a:xfrm rot="5400000">
            <a:off x="3456432" y="274320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4526279" y="2798064"/>
            <a:ext cx="73152" cy="0"/>
          </a:xfrm>
          <a:prstGeom prst="line">
            <a:avLst/>
          </a:prstGeom>
          <a:ln w="1397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Isosceles Triangle 123"/>
          <p:cNvSpPr/>
          <p:nvPr/>
        </p:nvSpPr>
        <p:spPr>
          <a:xfrm rot="5400000">
            <a:off x="4562855" y="274320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5632703" y="2798064"/>
            <a:ext cx="73153" cy="0"/>
          </a:xfrm>
          <a:prstGeom prst="line">
            <a:avLst/>
          </a:prstGeom>
          <a:ln w="1397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Isosceles Triangle 125"/>
          <p:cNvSpPr/>
          <p:nvPr/>
        </p:nvSpPr>
        <p:spPr>
          <a:xfrm rot="5400000">
            <a:off x="5669280" y="274320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6739128" y="2798064"/>
            <a:ext cx="73151" cy="0"/>
          </a:xfrm>
          <a:prstGeom prst="line">
            <a:avLst/>
          </a:prstGeom>
          <a:ln w="1397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Isosceles Triangle 127"/>
          <p:cNvSpPr/>
          <p:nvPr/>
        </p:nvSpPr>
        <p:spPr>
          <a:xfrm rot="5400000">
            <a:off x="6775703" y="274320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7845551" y="2798064"/>
            <a:ext cx="73153" cy="0"/>
          </a:xfrm>
          <a:prstGeom prst="line">
            <a:avLst/>
          </a:prstGeom>
          <a:ln w="13970">
            <a:solidFill>
              <a:srgbClr val="167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Isosceles Triangle 129"/>
          <p:cNvSpPr/>
          <p:nvPr/>
        </p:nvSpPr>
        <p:spPr>
          <a:xfrm rot="5400000">
            <a:off x="7882128" y="2743200"/>
            <a:ext cx="109728" cy="109728"/>
          </a:xfrm>
          <a:prstGeom prst="triangle">
            <a:avLst/>
          </a:prstGeom>
          <a:solidFill>
            <a:srgbClr val="16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1280160" y="4535424"/>
            <a:ext cx="7315200" cy="329184"/>
          </a:xfrm>
          <a:prstGeom prst="roundRect">
            <a:avLst/>
          </a:prstGeom>
          <a:solidFill>
            <a:srgbClr val="163B5D"/>
          </a:solidFill>
          <a:ln w="6350">
            <a:solidFill>
              <a:srgbClr val="16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417320" y="4590288"/>
            <a:ext cx="109728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Microsoft YaHei"/>
              </a:rPr>
              <a:t>治理原则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51760" y="4590288"/>
            <a:ext cx="192024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AI 辅助判断 · 人工最终审批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773168" y="4590288"/>
            <a:ext cx="2148840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本体关系可解释 · 全过程可追溯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150608" y="4590288"/>
            <a:ext cx="1298448" cy="1463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Microsoft YaHei"/>
              </a:rPr>
              <a:t>结果持续回写学习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