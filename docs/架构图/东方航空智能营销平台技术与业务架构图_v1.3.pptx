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7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7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333755" y="434340"/>
            <a:ext cx="8503920" cy="0"/>
          </a:xfrm>
          <a:prstGeom prst="line">
            <a:avLst/>
          </a:prstGeom>
          <a:ln w="12700">
            <a:solidFill>
              <a:srgbClr val="E7F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33755" y="4238244"/>
            <a:ext cx="612648" cy="393192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3755" y="4238244"/>
            <a:ext cx="612648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渠道触点层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5" y="3150108"/>
            <a:ext cx="612648" cy="978408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5" y="3150108"/>
            <a:ext cx="612648" cy="9784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业务应用层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5" y="2263140"/>
            <a:ext cx="612648" cy="768096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5" y="2263140"/>
            <a:ext cx="612648" cy="7680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智能能力层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5" y="1421892"/>
            <a:ext cx="612648" cy="640080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5" y="1421892"/>
            <a:ext cx="612648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知识与本体层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5" y="681228"/>
            <a:ext cx="612648" cy="548640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5" y="681228"/>
            <a:ext cx="612648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数据接入治理层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5" y="480060"/>
            <a:ext cx="612648" cy="182880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5" y="480060"/>
            <a:ext cx="612648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数据基础层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3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1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用户画像/标签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6291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54579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航班/航线/运价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4739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3027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产品/权益/库存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3187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1474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市场热点/舆情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5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9922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订单/行为/经营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30082" y="480060"/>
            <a:ext cx="1216152" cy="24688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8370" y="489204"/>
            <a:ext cx="117957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渠道回执/转化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3" y="681228"/>
            <a:ext cx="7744968" cy="54864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3468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7843" y="681228"/>
            <a:ext cx="7744968" cy="246888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4419" y="681228"/>
            <a:ext cx="7671816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数据接入与处理流水线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65859" y="928116"/>
            <a:ext cx="1115568" cy="20116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4147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文件拖拽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09443" y="928116"/>
            <a:ext cx="1115568" cy="20116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731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API 接口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3027" y="928116"/>
            <a:ext cx="1115568" cy="20116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71315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数据库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6611" y="928116"/>
            <a:ext cx="1115568" cy="201168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14898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清洗抽取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0195" y="928116"/>
            <a:ext cx="1115568" cy="201168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8483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实体/关系识别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83779" y="928116"/>
            <a:ext cx="1115568" cy="201168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02067" y="937260"/>
            <a:ext cx="10789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质量/权限/溯源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3" y="1421892"/>
            <a:ext cx="7744968" cy="640080"/>
          </a:xfrm>
          <a:prstGeom prst="roundRect">
            <a:avLst/>
          </a:prstGeom>
          <a:solidFill>
            <a:srgbClr val="FFF4E4"/>
          </a:solidFill>
          <a:ln w="15240">
            <a:solidFill>
              <a:srgbClr val="E18B4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37843" y="1421892"/>
            <a:ext cx="7744968" cy="246888"/>
          </a:xfrm>
          <a:prstGeom prst="roundRect">
            <a:avLst/>
          </a:prstGeom>
          <a:solidFill>
            <a:srgbClr val="E18B48"/>
          </a:solidFill>
          <a:ln w="12700">
            <a:solidFill>
              <a:srgbClr val="E1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4419" y="1421892"/>
            <a:ext cx="7671816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知识与本体底座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4147" y="1668779"/>
            <a:ext cx="1335024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02435" y="1677923"/>
            <a:ext cx="129844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A3646"/>
                </a:solidFill>
                <a:latin typeface="Microsoft YaHei"/>
              </a:rPr>
              <a:t>知识文档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2906" y="1668779"/>
            <a:ext cx="1335024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11194" y="1677923"/>
            <a:ext cx="129844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A3646"/>
                </a:solidFill>
                <a:latin typeface="Microsoft YaHei"/>
              </a:rPr>
              <a:t>本体对象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1667" y="1668779"/>
            <a:ext cx="1335024" cy="228600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19955" y="1677923"/>
            <a:ext cx="129844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A3646"/>
                </a:solidFill>
                <a:latin typeface="Microsoft YaHei"/>
              </a:rPr>
              <a:t>业务关系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10427" y="1668779"/>
            <a:ext cx="1335024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728714" y="1677923"/>
            <a:ext cx="129844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A3646"/>
                </a:solidFill>
                <a:latin typeface="Microsoft YaHei"/>
              </a:rPr>
              <a:t>证据/版本/置信度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19187" y="1668779"/>
            <a:ext cx="1335024" cy="228600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37474" y="1677923"/>
            <a:ext cx="1298448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2A3646"/>
                </a:solidFill>
                <a:latin typeface="Microsoft YaHei"/>
              </a:rPr>
              <a:t>人工确认/审计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7843" y="2263140"/>
            <a:ext cx="7744968" cy="768096"/>
          </a:xfrm>
          <a:prstGeom prst="roundRect">
            <a:avLst/>
          </a:prstGeom>
          <a:solidFill>
            <a:srgbClr val="FFF4E4"/>
          </a:solidFill>
          <a:ln w="15240">
            <a:solidFill>
              <a:srgbClr val="E18B4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37843" y="2263140"/>
            <a:ext cx="7744968" cy="246888"/>
          </a:xfrm>
          <a:prstGeom prst="roundRect">
            <a:avLst/>
          </a:prstGeom>
          <a:solidFill>
            <a:srgbClr val="E18B48"/>
          </a:solidFill>
          <a:ln w="12700">
            <a:solidFill>
              <a:srgbClr val="E1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4419" y="2263140"/>
            <a:ext cx="7671816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AI 赋能层｜统一 Harness 运行与智能能力嵌入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56715" y="2546604"/>
            <a:ext cx="969264" cy="265176"/>
          </a:xfrm>
          <a:prstGeom prst="roundRect">
            <a:avLst/>
          </a:prstGeom>
          <a:solidFill>
            <a:srgbClr val="F2BFB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75003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数据处理智能域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26563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44851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机会洞察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96411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14699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客群洞察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66259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84546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产品匹配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36107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54394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活动编排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05955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24242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内容生成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75803" y="2546604"/>
            <a:ext cx="969264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94090" y="2555747"/>
            <a:ext cx="932688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00" b="1">
                <a:solidFill>
                  <a:srgbClr val="2A3646"/>
                </a:solidFill>
                <a:latin typeface="Microsoft YaHei"/>
              </a:rPr>
              <a:t>效果分析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7475" y="2820924"/>
            <a:ext cx="1325880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E18B48"/>
                </a:solidFill>
                <a:latin typeface="Microsoft YaHei"/>
              </a:rPr>
              <a:t>模型配置｜轨迹｜人审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7843" y="3150108"/>
            <a:ext cx="7744968" cy="978408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3468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37843" y="3150108"/>
            <a:ext cx="7744968" cy="246888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74419" y="3150108"/>
            <a:ext cx="7671816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业务应用层｜当前生产工作台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56715" y="3424428"/>
            <a:ext cx="1627632" cy="219456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56715" y="3424428"/>
            <a:ext cx="162763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营销驾驶舱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56715" y="3698747"/>
            <a:ext cx="786384" cy="192024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75003" y="3707891"/>
            <a:ext cx="749808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营销总览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70531" y="3698747"/>
            <a:ext cx="786384" cy="192024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988819" y="3707891"/>
            <a:ext cx="749808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活动中心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031235" y="3424428"/>
            <a:ext cx="1938528" cy="219456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031235" y="3424428"/>
            <a:ext cx="193852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活动策划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031235" y="3698747"/>
            <a:ext cx="941832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049523" y="3707891"/>
            <a:ext cx="905256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机会洞察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000498" y="3698747"/>
            <a:ext cx="941832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018786" y="3707891"/>
            <a:ext cx="905256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客群画像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031235" y="3927347"/>
            <a:ext cx="941832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049523" y="3936491"/>
            <a:ext cx="905256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产品与权益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000498" y="3927347"/>
            <a:ext cx="941832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018786" y="3936491"/>
            <a:ext cx="905256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内容工坊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152643" y="3424428"/>
            <a:ext cx="1609344" cy="219456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152643" y="3424428"/>
            <a:ext cx="1609344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活动执行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152643" y="3698747"/>
            <a:ext cx="777240" cy="192024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170931" y="3707891"/>
            <a:ext cx="740664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审批与发布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957315" y="3698747"/>
            <a:ext cx="777240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975603" y="3707891"/>
            <a:ext cx="740664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执行监控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52643" y="3927347"/>
            <a:ext cx="777240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170931" y="3936491"/>
            <a:ext cx="740664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效果复盘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917435" y="3424428"/>
            <a:ext cx="1572768" cy="219456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917435" y="3424428"/>
            <a:ext cx="157276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治理中心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917435" y="3698747"/>
            <a:ext cx="758952" cy="192024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935722" y="3707891"/>
            <a:ext cx="722375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知识中心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703819" y="3698747"/>
            <a:ext cx="758952" cy="192024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722107" y="3707891"/>
            <a:ext cx="722375" cy="1737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80" b="1">
                <a:solidFill>
                  <a:srgbClr val="2A3646"/>
                </a:solidFill>
                <a:latin typeface="Microsoft YaHei"/>
              </a:rPr>
              <a:t>权限与审计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37843" y="4238244"/>
            <a:ext cx="7744968" cy="393192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3468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37843" y="4238244"/>
            <a:ext cx="7744968" cy="246888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74419" y="4238244"/>
            <a:ext cx="7671816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渠道触点层｜分发、服务与反馈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202435" y="4485132"/>
            <a:ext cx="1325880" cy="15544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220723" y="4494276"/>
            <a:ext cx="1289304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50" b="1">
                <a:solidFill>
                  <a:srgbClr val="2A3646"/>
                </a:solidFill>
                <a:latin typeface="Microsoft YaHei"/>
              </a:rPr>
              <a:t>东航 App/小程序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683763" y="4485132"/>
            <a:ext cx="1325880" cy="15544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702051" y="4494276"/>
            <a:ext cx="1289304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50" b="1">
                <a:solidFill>
                  <a:srgbClr val="2A3646"/>
                </a:solidFill>
                <a:latin typeface="Microsoft YaHei"/>
              </a:rPr>
              <a:t>短信/微信/邮件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65091" y="4485132"/>
            <a:ext cx="1325880" cy="155448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183378" y="4494276"/>
            <a:ext cx="1289304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50" b="1">
                <a:solidFill>
                  <a:srgbClr val="2A3646"/>
                </a:solidFill>
                <a:latin typeface="Microsoft YaHei"/>
              </a:rPr>
              <a:t>官网/客服/机场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46419" y="4485132"/>
            <a:ext cx="1325880" cy="155448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664707" y="4494276"/>
            <a:ext cx="1289304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50" b="1">
                <a:solidFill>
                  <a:srgbClr val="2A3646"/>
                </a:solidFill>
                <a:latin typeface="Microsoft YaHei"/>
              </a:rPr>
              <a:t>企业客户/合作渠道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127747" y="4485132"/>
            <a:ext cx="1325880" cy="155448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146035" y="4494276"/>
            <a:ext cx="1289304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50" b="1">
                <a:solidFill>
                  <a:srgbClr val="2A3646"/>
                </a:solidFill>
                <a:latin typeface="Microsoft YaHei"/>
              </a:rPr>
              <a:t>OTA/NDC/回执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905755" y="1229868"/>
            <a:ext cx="0" cy="192024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905755" y="2061972"/>
            <a:ext cx="0" cy="201168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905755" y="3031236"/>
            <a:ext cx="0" cy="118872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905755" y="4128516"/>
            <a:ext cx="0" cy="109728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8618219" y="2331127"/>
            <a:ext cx="530352" cy="9144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50" b="1">
                <a:solidFill>
                  <a:srgbClr val="327E53"/>
                </a:solidFill>
                <a:latin typeface="Microsoft YaHei"/>
              </a:rPr>
              <a:t>触达
回执
转化
回流</a:t>
            </a:r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3DDC0B36-7FC9-EC2B-39E0-EF034A82CFCF}"/>
              </a:ext>
            </a:extLst>
          </p:cNvPr>
          <p:cNvCxnSpPr>
            <a:cxnSpLocks/>
          </p:cNvCxnSpPr>
          <p:nvPr/>
        </p:nvCxnSpPr>
        <p:spPr>
          <a:xfrm flipV="1">
            <a:off x="9003875" y="955548"/>
            <a:ext cx="0" cy="3406140"/>
          </a:xfrm>
          <a:prstGeom prst="straightConnector1">
            <a:avLst/>
          </a:prstGeom>
          <a:ln w="9525">
            <a:solidFill>
              <a:srgbClr val="327E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0605" y="530353"/>
            <a:ext cx="612648" cy="512064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605" y="530353"/>
            <a:ext cx="612648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业务输入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5" y="585217"/>
            <a:ext cx="1417320" cy="265176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3" y="594361"/>
            <a:ext cx="1380744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航线/航班经营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2325" y="585217"/>
            <a:ext cx="1417320" cy="265176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10613" y="594361"/>
            <a:ext cx="1380744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用户画像与标签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6805" y="585217"/>
            <a:ext cx="1417320" cy="265176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5092" y="594361"/>
            <a:ext cx="1380744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机票/辅营/权益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01285" y="585217"/>
            <a:ext cx="1417320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9572" y="594361"/>
            <a:ext cx="1380744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市场热点与舆情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5765" y="585217"/>
            <a:ext cx="1417320" cy="265176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74053" y="594361"/>
            <a:ext cx="1380744" cy="2468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40" b="1">
                <a:solidFill>
                  <a:srgbClr val="2A3646"/>
                </a:solidFill>
                <a:latin typeface="Microsoft YaHei"/>
              </a:rPr>
              <a:t>活动历史/预算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5" y="1124713"/>
            <a:ext cx="612648" cy="841248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0605" y="1124713"/>
            <a:ext cx="612648" cy="8412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营销
生命周期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5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5277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7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机会发现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5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识别航线、热点与经营异常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45437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2868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1469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客群选择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5437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组合画像形成可触达客群包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3028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80461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9061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产品组合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3028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引用机票、卡券、辅营权益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60621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8053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653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内容生产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0621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生成多渠道版本并校验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8213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5645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245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审批执行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8213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预算合规人审后触达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75805" y="1179577"/>
            <a:ext cx="1170432" cy="283464"/>
          </a:xfrm>
          <a:prstGeom prst="roundRect">
            <a:avLst/>
          </a:prstGeom>
          <a:solidFill>
            <a:srgbClr val="183668"/>
          </a:solidFill>
          <a:ln w="12700">
            <a:solidFill>
              <a:srgbClr val="18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03236" y="1179577"/>
            <a:ext cx="228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1836" y="1179577"/>
            <a:ext cx="886968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结果复盘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5805" y="1517905"/>
            <a:ext cx="1170432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560" b="0">
                <a:solidFill>
                  <a:srgbClr val="64748B"/>
                </a:solidFill>
                <a:latin typeface="Microsoft YaHei"/>
              </a:rPr>
              <a:t>回收转化并沉淀学习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17421" y="1321309"/>
            <a:ext cx="109728" cy="0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525013" y="1321309"/>
            <a:ext cx="109728" cy="0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32605" y="1321309"/>
            <a:ext cx="109728" cy="0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40197" y="1321309"/>
            <a:ext cx="109728" cy="0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47789" y="1321309"/>
            <a:ext cx="109728" cy="0"/>
          </a:xfrm>
          <a:prstGeom prst="line">
            <a:avLst/>
          </a:prstGeom>
          <a:ln w="12700">
            <a:solidFill>
              <a:srgbClr val="346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60605" y="2103121"/>
            <a:ext cx="612648" cy="1920240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0605" y="2103121"/>
            <a:ext cx="612648" cy="19202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业务协同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7845" y="2130553"/>
            <a:ext cx="896112" cy="28346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7845" y="2130553"/>
            <a:ext cx="8961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183668"/>
                </a:solidFill>
                <a:latin typeface="Microsoft YaHei"/>
              </a:rPr>
              <a:t>业务对象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88821" y="2130553"/>
            <a:ext cx="65653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80261" y="2130553"/>
            <a:ext cx="63825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2A3646"/>
                </a:solidFill>
                <a:latin typeface="Microsoft YaHei"/>
              </a:rPr>
              <a:t>机会信号 → 客群包 → 活动产品包 → 内容版本 → 活动/版本 → 审批单 → 渠道任务 → 结果指标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7845" y="2496313"/>
            <a:ext cx="896112" cy="28346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7845" y="2496313"/>
            <a:ext cx="8961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183668"/>
                </a:solidFill>
                <a:latin typeface="Microsoft YaHei"/>
              </a:rPr>
              <a:t>平台动作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88821" y="2496313"/>
            <a:ext cx="65653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080261" y="2496313"/>
            <a:ext cx="63825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2A3646"/>
                </a:solidFill>
                <a:latin typeface="Microsoft YaHei"/>
              </a:rPr>
              <a:t>洞察与筛选｜引用与组合｜生成与审核｜预算与合规｜分发与回传｜分析与沉淀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7845" y="2862073"/>
            <a:ext cx="896112" cy="28346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7845" y="2862073"/>
            <a:ext cx="8961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183668"/>
                </a:solidFill>
                <a:latin typeface="Microsoft YaHei"/>
              </a:rPr>
              <a:t>AI 赋能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88821" y="2862073"/>
            <a:ext cx="65653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080261" y="2862073"/>
            <a:ext cx="63825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2A3646"/>
                </a:solidFill>
                <a:latin typeface="Microsoft YaHei"/>
              </a:rPr>
              <a:t>发现异常｜扩展客群｜解释产品适配｜生成内容｜风险提示｜归因学习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7845" y="3227833"/>
            <a:ext cx="896112" cy="28346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7845" y="3227833"/>
            <a:ext cx="8961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183668"/>
                </a:solidFill>
                <a:latin typeface="Microsoft YaHei"/>
              </a:rPr>
              <a:t>人工责任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88821" y="3227833"/>
            <a:ext cx="65653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080261" y="3227833"/>
            <a:ext cx="63825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2A3646"/>
                </a:solidFill>
                <a:latin typeface="Microsoft YaHei"/>
              </a:rPr>
              <a:t>确认机会｜确认客群｜确认产品权益｜审核表达｜多级审批｜采纳建议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37845" y="3593592"/>
            <a:ext cx="896112" cy="28346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7845" y="3593592"/>
            <a:ext cx="8961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80" b="1">
                <a:solidFill>
                  <a:srgbClr val="183668"/>
                </a:solidFill>
                <a:latin typeface="Microsoft YaHei"/>
              </a:rPr>
              <a:t>阶段产出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8821" y="3593592"/>
            <a:ext cx="65653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080261" y="3593592"/>
            <a:ext cx="6382512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2A3646"/>
                </a:solidFill>
                <a:latin typeface="Microsoft YaHei"/>
              </a:rPr>
              <a:t>机会记录｜客群包｜产品包｜内容资产｜可执行活动｜可追溯复盘报告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5" y="4087369"/>
            <a:ext cx="612648" cy="429768"/>
          </a:xfrm>
          <a:prstGeom prst="rect">
            <a:avLst/>
          </a:prstGeom>
          <a:solidFill>
            <a:srgbClr val="3468B0"/>
          </a:solidFill>
          <a:ln w="12700">
            <a:solidFill>
              <a:srgbClr val="346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60605" y="4087369"/>
            <a:ext cx="612648" cy="4297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系统支撑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37845" y="4151377"/>
            <a:ext cx="1417320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6133" y="4160521"/>
            <a:ext cx="1380744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营销驾驶舱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92325" y="4151377"/>
            <a:ext cx="1417320" cy="228600"/>
          </a:xfrm>
          <a:prstGeom prst="roundRect">
            <a:avLst/>
          </a:prstGeom>
          <a:solidFill>
            <a:srgbClr val="FAE2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610613" y="4160521"/>
            <a:ext cx="1380744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活动策划工作台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46805" y="4151377"/>
            <a:ext cx="1417320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65092" y="4160521"/>
            <a:ext cx="1380744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活动执行与监控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01285" y="4151377"/>
            <a:ext cx="1417320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719572" y="4160521"/>
            <a:ext cx="1380744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知识中心/本体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55765" y="4151377"/>
            <a:ext cx="1417320" cy="228600"/>
          </a:xfrm>
          <a:prstGeom prst="roundRect">
            <a:avLst/>
          </a:prstGeom>
          <a:solidFill>
            <a:srgbClr val="C2E2B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274053" y="4160521"/>
            <a:ext cx="1380744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620" b="1">
                <a:solidFill>
                  <a:srgbClr val="2A3646"/>
                </a:solidFill>
                <a:latin typeface="Microsoft YaHei"/>
              </a:rPr>
              <a:t>权限与审计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18605" y="4425697"/>
            <a:ext cx="1664208" cy="14630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590" b="1">
                <a:solidFill>
                  <a:srgbClr val="327E53"/>
                </a:solidFill>
                <a:latin typeface="Microsoft YaHei"/>
              </a:rPr>
              <a:t>渠道回执 → 结果 → 下一轮机会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248</Words>
  <Application>Microsoft Office PowerPoint</Application>
  <PresentationFormat>全屏显示(16:9)</PresentationFormat>
  <Paragraphs>100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Microsoft YaHei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李洋 林</cp:lastModifiedBy>
  <cp:revision>2</cp:revision>
  <dcterms:created xsi:type="dcterms:W3CDTF">2013-01-27T09:14:16Z</dcterms:created>
  <dcterms:modified xsi:type="dcterms:W3CDTF">2026-09-01T06:51:15Z</dcterms:modified>
  <cp:category/>
</cp:coreProperties>
</file>